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1051560"/>
            <a:ext cx="10515600" cy="411480"/>
          </a:xfrm>
          <a:prstGeom prst="rect">
            <a:avLst/>
          </a:prstGeom>
          <a:noFill/>
        </p:spPr>
        <p:txBody>
          <a:bodyPr wrap="square" lIns="45720" rIns="45720" tIns="36576" bIns="27432" anchor="t">
            <a:spAutoFit/>
          </a:bodyPr>
          <a:lstStyle/>
          <a:p>
            <a:pPr algn="l"/>
            <a:r>
              <a:rPr sz="1500" b="1">
                <a:solidFill>
                  <a:srgbClr val="315F91"/>
                </a:solidFill>
                <a:latin typeface="Arial"/>
              </a:rPr>
              <a:t>EXPLORATORY DATA ANALYSIS</a:t>
            </a:r>
          </a:p>
        </p:txBody>
      </p:sp>
      <p:sp>
        <p:nvSpPr>
          <p:cNvPr id="3" name="TextBox 2"/>
          <p:cNvSpPr txBox="1"/>
          <p:nvPr/>
        </p:nvSpPr>
        <p:spPr>
          <a:xfrm>
            <a:off x="822960" y="1828800"/>
            <a:ext cx="10515600" cy="1234440"/>
          </a:xfrm>
          <a:prstGeom prst="rect">
            <a:avLst/>
          </a:prstGeom>
          <a:noFill/>
        </p:spPr>
        <p:txBody>
          <a:bodyPr wrap="square" lIns="45720" rIns="45720" tIns="36576" bIns="27432" anchor="t">
            <a:spAutoFit/>
          </a:bodyPr>
          <a:lstStyle/>
          <a:p>
            <a:pPr algn="l"/>
            <a:r>
              <a:rPr sz="3200" b="1">
                <a:solidFill>
                  <a:srgbClr val="2C3E50"/>
                </a:solidFill>
                <a:latin typeface="Arial"/>
              </a:rPr>
              <a:t>E-Commerce Sales and
Customer Behavior Analysis</a:t>
            </a:r>
          </a:p>
        </p:txBody>
      </p:sp>
      <p:sp>
        <p:nvSpPr>
          <p:cNvPr id="4" name="TextBox 3"/>
          <p:cNvSpPr txBox="1"/>
          <p:nvPr/>
        </p:nvSpPr>
        <p:spPr>
          <a:xfrm>
            <a:off x="868680" y="3429000"/>
            <a:ext cx="9875520" cy="731520"/>
          </a:xfrm>
          <a:prstGeom prst="rect">
            <a:avLst/>
          </a:prstGeom>
          <a:noFill/>
        </p:spPr>
        <p:txBody>
          <a:bodyPr wrap="square" lIns="45720" rIns="45720" tIns="36576" bIns="27432" anchor="t">
            <a:spAutoFit/>
          </a:bodyPr>
          <a:lstStyle/>
          <a:p>
            <a:pPr algn="l"/>
            <a:r>
              <a:rPr sz="1900" b="0">
                <a:solidFill>
                  <a:srgbClr val="696969"/>
                </a:solidFill>
                <a:latin typeface="Arial"/>
              </a:rPr>
              <a:t>A study of product sales, customer segments, seasonality and cancellations</a:t>
            </a:r>
          </a:p>
        </p:txBody>
      </p:sp>
      <p:sp>
        <p:nvSpPr>
          <p:cNvPr id="5" name="TextBox 4"/>
          <p:cNvSpPr txBox="1"/>
          <p:nvPr/>
        </p:nvSpPr>
        <p:spPr>
          <a:xfrm>
            <a:off x="868680" y="4800600"/>
            <a:ext cx="9875520" cy="365760"/>
          </a:xfrm>
          <a:prstGeom prst="rect">
            <a:avLst/>
          </a:prstGeom>
          <a:noFill/>
        </p:spPr>
        <p:txBody>
          <a:bodyPr wrap="square" lIns="45720" rIns="45720" tIns="36576" bIns="27432" anchor="t">
            <a:spAutoFit/>
          </a:bodyPr>
          <a:lstStyle/>
          <a:p>
            <a:pPr algn="l"/>
            <a:r>
              <a:rPr sz="1700" b="1">
                <a:solidFill>
                  <a:srgbClr val="232323"/>
                </a:solidFill>
                <a:latin typeface="Arial"/>
              </a:rPr>
              <a:t>Dataset: UCI Online Retail</a:t>
            </a:r>
          </a:p>
        </p:txBody>
      </p:sp>
      <p:sp>
        <p:nvSpPr>
          <p:cNvPr id="6" name="TextBox 5"/>
          <p:cNvSpPr txBox="1"/>
          <p:nvPr/>
        </p:nvSpPr>
        <p:spPr>
          <a:xfrm>
            <a:off x="868680" y="5623560"/>
            <a:ext cx="9875520" cy="320040"/>
          </a:xfrm>
          <a:prstGeom prst="rect">
            <a:avLst/>
          </a:prstGeom>
          <a:noFill/>
        </p:spPr>
        <p:txBody>
          <a:bodyPr wrap="square" lIns="45720" rIns="45720" tIns="36576" bIns="27432" anchor="t">
            <a:spAutoFit/>
          </a:bodyPr>
          <a:lstStyle/>
          <a:p>
            <a:pPr algn="l"/>
            <a:r>
              <a:rPr sz="1400" b="0">
                <a:solidFill>
                  <a:srgbClr val="696969"/>
                </a:solidFill>
                <a:latin typeface="Arial"/>
              </a:rPr>
              <a:t>Tools used: Python, Pandas, NumPy, Matplotlib and Seaborn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502920"/>
          </a:xfrm>
          <a:prstGeom prst="rect">
            <a:avLst/>
          </a:prstGeom>
          <a:noFill/>
        </p:spPr>
        <p:txBody>
          <a:bodyPr wrap="square" lIns="45720" rIns="45720" tIns="36576" bIns="27432" anchor="t">
            <a:spAutoFit/>
          </a:bodyPr>
          <a:lstStyle/>
          <a:p>
            <a:pPr algn="l"/>
            <a:r>
              <a:rPr sz="2600" b="1">
                <a:solidFill>
                  <a:srgbClr val="2C3E50"/>
                </a:solidFill>
                <a:latin typeface="Arial"/>
              </a:rPr>
              <a:t>1. Introduction and Objectives</a:t>
            </a:r>
          </a:p>
        </p:txBody>
      </p:sp>
      <p:sp>
        <p:nvSpPr>
          <p:cNvPr id="3" name="Rectangle 2"/>
          <p:cNvSpPr/>
          <p:nvPr/>
        </p:nvSpPr>
        <p:spPr>
          <a:xfrm>
            <a:off x="594360" y="932688"/>
            <a:ext cx="10972800" cy="22860"/>
          </a:xfrm>
          <a:prstGeom prst="rect">
            <a:avLst/>
          </a:prstGeom>
          <a:solidFill>
            <a:srgbClr val="EB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6446520"/>
            <a:ext cx="457200" cy="182880"/>
          </a:xfrm>
          <a:prstGeom prst="rect">
            <a:avLst/>
          </a:prstGeom>
          <a:noFill/>
        </p:spPr>
        <p:txBody>
          <a:bodyPr wrap="square" lIns="45720" rIns="45720" tIns="36576" bIns="27432" anchor="t">
            <a:spAutoFit/>
          </a:bodyPr>
          <a:lstStyle/>
          <a:p>
            <a:pPr algn="r"/>
            <a:r>
              <a:rPr sz="900" b="0">
                <a:solidFill>
                  <a:srgbClr val="696969"/>
                </a:solidFill>
                <a:latin typeface="Arial"/>
              </a:rPr>
              <a:t>2</a:t>
            </a:r>
          </a:p>
        </p:txBody>
      </p:sp>
      <p:sp>
        <p:nvSpPr>
          <p:cNvPr id="5" name="TextBox 4"/>
          <p:cNvSpPr txBox="1"/>
          <p:nvPr/>
        </p:nvSpPr>
        <p:spPr>
          <a:xfrm>
            <a:off x="731520" y="1234440"/>
            <a:ext cx="10698480" cy="502920"/>
          </a:xfrm>
          <a:prstGeom prst="rect">
            <a:avLst/>
          </a:prstGeom>
          <a:noFill/>
        </p:spPr>
        <p:txBody>
          <a:bodyPr wrap="square" lIns="45720" rIns="45720" tIns="36576" bIns="27432" anchor="t">
            <a:spAutoFit/>
          </a:bodyPr>
          <a:lstStyle/>
          <a:p>
            <a:pPr algn="l"/>
            <a:r>
              <a:rPr sz="2000" b="1">
                <a:solidFill>
                  <a:srgbClr val="315F91"/>
                </a:solidFill>
                <a:latin typeface="Arial"/>
              </a:rPr>
              <a:t>Introduction</a:t>
            </a:r>
          </a:p>
        </p:txBody>
      </p:sp>
      <p:sp>
        <p:nvSpPr>
          <p:cNvPr id="6" name="TextBox 5"/>
          <p:cNvSpPr txBox="1"/>
          <p:nvPr/>
        </p:nvSpPr>
        <p:spPr>
          <a:xfrm>
            <a:off x="777240" y="1737360"/>
            <a:ext cx="10515600" cy="960120"/>
          </a:xfrm>
          <a:prstGeom prst="rect">
            <a:avLst/>
          </a:prstGeom>
          <a:noFill/>
        </p:spPr>
        <p:txBody>
          <a:bodyPr wrap="square" lIns="45720" rIns="45720" tIns="36576" bIns="27432" anchor="t">
            <a:spAutoFit/>
          </a:bodyPr>
          <a:lstStyle/>
          <a:p>
            <a:pPr algn="l"/>
            <a:r>
              <a:rPr sz="1600" b="0">
                <a:solidFill>
                  <a:srgbClr val="232323"/>
                </a:solidFill>
                <a:latin typeface="Arial"/>
              </a:rPr>
              <a:t>This project analyzes an online retail transaction dataset to understand sales performance and customer purchasing behavior. Exploratory Data Analysis (EDA) is used to identify patterns, trends and possible business opportunities.</a:t>
            </a:r>
          </a:p>
        </p:txBody>
      </p:sp>
      <p:sp>
        <p:nvSpPr>
          <p:cNvPr id="7" name="TextBox 6"/>
          <p:cNvSpPr txBox="1"/>
          <p:nvPr/>
        </p:nvSpPr>
        <p:spPr>
          <a:xfrm>
            <a:off x="731520" y="2926080"/>
            <a:ext cx="10698480" cy="411480"/>
          </a:xfrm>
          <a:prstGeom prst="rect">
            <a:avLst/>
          </a:prstGeom>
          <a:noFill/>
        </p:spPr>
        <p:txBody>
          <a:bodyPr wrap="square" lIns="45720" rIns="45720" tIns="36576" bIns="27432" anchor="t">
            <a:spAutoFit/>
          </a:bodyPr>
          <a:lstStyle/>
          <a:p>
            <a:pPr algn="l"/>
            <a:r>
              <a:rPr sz="2000" b="1">
                <a:solidFill>
                  <a:srgbClr val="315F91"/>
                </a:solidFill>
                <a:latin typeface="Arial"/>
              </a:rPr>
              <a:t>Objectives</a:t>
            </a:r>
          </a:p>
        </p:txBody>
      </p:sp>
      <p:sp>
        <p:nvSpPr>
          <p:cNvPr id="8" name="TextBox 7"/>
          <p:cNvSpPr txBox="1"/>
          <p:nvPr/>
        </p:nvSpPr>
        <p:spPr>
          <a:xfrm>
            <a:off x="822960" y="3429000"/>
            <a:ext cx="10241280" cy="2194560"/>
          </a:xfrm>
          <a:prstGeom prst="rect">
            <a:avLst/>
          </a:prstGeom>
          <a:noFill/>
        </p:spPr>
        <p:txBody>
          <a:bodyPr wrap="square" lIns="73152" rIns="45720" tIns="36576">
            <a:spAutoFit/>
          </a:bodyPr>
          <a:lstStyle/>
          <a:p>
            <a:pPr>
              <a:spcAft>
                <a:spcPts val="1000"/>
              </a:spcAft>
              <a:defRPr sz="1600">
                <a:solidFill>
                  <a:srgbClr val="232323"/>
                </a:solidFill>
                <a:latin typeface="Arial"/>
              </a:defRPr>
            </a:pPr>
            <a:r>
              <a:t>Identify products generating the highest revenue and sales volume.</a:t>
            </a:r>
          </a:p>
          <a:p>
            <a:pPr>
              <a:spcAft>
                <a:spcPts val="1000"/>
              </a:spcAft>
              <a:defRPr sz="1600">
                <a:solidFill>
                  <a:srgbClr val="232323"/>
                </a:solidFill>
                <a:latin typeface="Arial"/>
              </a:defRPr>
            </a:pPr>
            <a:r>
              <a:t>Analyze monthly, weekly and hourly purchasing patterns.</a:t>
            </a:r>
          </a:p>
          <a:p>
            <a:pPr>
              <a:spcAft>
                <a:spcPts val="1000"/>
              </a:spcAft>
              <a:defRPr sz="1600">
                <a:solidFill>
                  <a:srgbClr val="232323"/>
                </a:solidFill>
                <a:latin typeface="Arial"/>
              </a:defRPr>
            </a:pPr>
            <a:r>
              <a:t>Compare sales across countries and customer groups.</a:t>
            </a:r>
          </a:p>
          <a:p>
            <a:pPr>
              <a:spcAft>
                <a:spcPts val="1000"/>
              </a:spcAft>
              <a:defRPr sz="1600">
                <a:solidFill>
                  <a:srgbClr val="232323"/>
                </a:solidFill>
                <a:latin typeface="Arial"/>
              </a:defRPr>
            </a:pPr>
            <a:r>
              <a:t>Study cancellation patterns and relationships between variables.</a:t>
            </a:r>
          </a:p>
          <a:p>
            <a:pPr>
              <a:spcAft>
                <a:spcPts val="1000"/>
              </a:spcAft>
              <a:defRPr sz="1600">
                <a:solidFill>
                  <a:srgbClr val="232323"/>
                </a:solidFill>
                <a:latin typeface="Arial"/>
              </a:defRPr>
            </a:pPr>
            <a:r>
              <a:t>Provide recommendations based on the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502920"/>
          </a:xfrm>
          <a:prstGeom prst="rect">
            <a:avLst/>
          </a:prstGeom>
          <a:noFill/>
        </p:spPr>
        <p:txBody>
          <a:bodyPr wrap="square" lIns="45720" rIns="45720" tIns="36576" bIns="27432" anchor="t">
            <a:spAutoFit/>
          </a:bodyPr>
          <a:lstStyle/>
          <a:p>
            <a:pPr algn="l"/>
            <a:r>
              <a:rPr sz="2600" b="1">
                <a:solidFill>
                  <a:srgbClr val="2C3E50"/>
                </a:solidFill>
                <a:latin typeface="Arial"/>
              </a:rPr>
              <a:t>2. Dataset Description</a:t>
            </a:r>
          </a:p>
        </p:txBody>
      </p:sp>
      <p:sp>
        <p:nvSpPr>
          <p:cNvPr id="3" name="Rectangle 2"/>
          <p:cNvSpPr/>
          <p:nvPr/>
        </p:nvSpPr>
        <p:spPr>
          <a:xfrm>
            <a:off x="594360" y="932688"/>
            <a:ext cx="10972800" cy="22860"/>
          </a:xfrm>
          <a:prstGeom prst="rect">
            <a:avLst/>
          </a:prstGeom>
          <a:solidFill>
            <a:srgbClr val="EB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6446520"/>
            <a:ext cx="457200" cy="182880"/>
          </a:xfrm>
          <a:prstGeom prst="rect">
            <a:avLst/>
          </a:prstGeom>
          <a:noFill/>
        </p:spPr>
        <p:txBody>
          <a:bodyPr wrap="square" lIns="45720" rIns="45720" tIns="36576" bIns="27432" anchor="t">
            <a:spAutoFit/>
          </a:bodyPr>
          <a:lstStyle/>
          <a:p>
            <a:pPr algn="r"/>
            <a:r>
              <a:rPr sz="900" b="0">
                <a:solidFill>
                  <a:srgbClr val="696969"/>
                </a:solidFill>
                <a:latin typeface="Arial"/>
              </a:rPr>
              <a:t>3</a:t>
            </a:r>
          </a:p>
        </p:txBody>
      </p:sp>
      <p:sp>
        <p:nvSpPr>
          <p:cNvPr id="5" name="TextBox 4"/>
          <p:cNvSpPr txBox="1"/>
          <p:nvPr/>
        </p:nvSpPr>
        <p:spPr>
          <a:xfrm>
            <a:off x="731520" y="1188720"/>
            <a:ext cx="10789920" cy="365760"/>
          </a:xfrm>
          <a:prstGeom prst="rect">
            <a:avLst/>
          </a:prstGeom>
          <a:noFill/>
        </p:spPr>
        <p:txBody>
          <a:bodyPr wrap="square" lIns="45720" rIns="45720" tIns="36576" bIns="27432" anchor="t">
            <a:spAutoFit/>
          </a:bodyPr>
          <a:lstStyle/>
          <a:p>
            <a:pPr algn="l"/>
            <a:r>
              <a:rPr sz="2000" b="1">
                <a:solidFill>
                  <a:srgbClr val="315F91"/>
                </a:solidFill>
                <a:latin typeface="Arial"/>
              </a:rPr>
              <a:t>Dataset overview</a:t>
            </a:r>
          </a:p>
        </p:txBody>
      </p:sp>
      <p:graphicFrame>
        <p:nvGraphicFramePr>
          <p:cNvPr id="6" name="Table 5"/>
          <p:cNvGraphicFramePr>
            <a:graphicFrameLocks noGrp="1"/>
          </p:cNvGraphicFramePr>
          <p:nvPr/>
        </p:nvGraphicFramePr>
        <p:xfrm>
          <a:off x="777240" y="1691640"/>
          <a:ext cx="6583680" cy="2103120"/>
        </p:xfrm>
        <a:graphic>
          <a:graphicData uri="http://schemas.openxmlformats.org/drawingml/2006/table">
            <a:tbl>
              <a:tblPr firstRow="1" bandRow="1">
                <a:tableStyleId>{5C22544A-7EE6-4342-B048-85BDC9FD1C3A}</a:tableStyleId>
              </a:tblPr>
              <a:tblGrid>
                <a:gridCol w="1828800"/>
                <a:gridCol w="4754880"/>
              </a:tblGrid>
              <a:tr h="350520">
                <a:tc>
                  <a:txBody>
                    <a:bodyPr/>
                    <a:lstStyle/>
                    <a:p>
                      <a:pPr>
                        <a:defRPr sz="1300" b="1">
                          <a:solidFill>
                            <a:srgbClr val="FFFFFF"/>
                          </a:solidFill>
                          <a:latin typeface="Arial"/>
                        </a:defRPr>
                      </a:pPr>
                      <a:r>
                        <a:t>Item</a:t>
                      </a:r>
                    </a:p>
                  </a:txBody>
                  <a:tcPr marL="73152" marR="45720" marT="36576" marB="36576">
                    <a:solidFill>
                      <a:srgbClr val="2C3E50"/>
                    </a:solidFill>
                  </a:tcPr>
                </a:tc>
                <a:tc>
                  <a:txBody>
                    <a:bodyPr/>
                    <a:lstStyle/>
                    <a:p>
                      <a:pPr>
                        <a:defRPr sz="1300" b="1">
                          <a:solidFill>
                            <a:srgbClr val="FFFFFF"/>
                          </a:solidFill>
                          <a:latin typeface="Arial"/>
                        </a:defRPr>
                      </a:pPr>
                      <a:r>
                        <a:t>Description</a:t>
                      </a:r>
                    </a:p>
                  </a:txBody>
                  <a:tcPr marL="73152" marR="45720" marT="36576" marB="36576">
                    <a:solidFill>
                      <a:srgbClr val="2C3E50"/>
                    </a:solidFill>
                  </a:tcPr>
                </a:tc>
              </a:tr>
              <a:tr h="350520">
                <a:tc>
                  <a:txBody>
                    <a:bodyPr/>
                    <a:lstStyle/>
                    <a:p>
                      <a:pPr>
                        <a:defRPr sz="1300" b="0">
                          <a:solidFill>
                            <a:srgbClr val="232323"/>
                          </a:solidFill>
                          <a:latin typeface="Arial"/>
                        </a:defRPr>
                      </a:pPr>
                      <a:r>
                        <a:t>Source</a:t>
                      </a:r>
                    </a:p>
                  </a:txBody>
                  <a:tcPr marL="73152" marR="45720" marT="36576" marB="36576">
                    <a:solidFill>
                      <a:srgbClr val="FFFFFF"/>
                    </a:solidFill>
                  </a:tcPr>
                </a:tc>
                <a:tc>
                  <a:txBody>
                    <a:bodyPr/>
                    <a:lstStyle/>
                    <a:p>
                      <a:pPr>
                        <a:defRPr sz="1300" b="0">
                          <a:solidFill>
                            <a:srgbClr val="232323"/>
                          </a:solidFill>
                          <a:latin typeface="Arial"/>
                        </a:defRPr>
                      </a:pPr>
                      <a:r>
                        <a:t>UCI Online Retail dataset</a:t>
                      </a:r>
                    </a:p>
                  </a:txBody>
                  <a:tcPr marL="73152" marR="45720" marT="36576" marB="36576">
                    <a:solidFill>
                      <a:srgbClr val="FFFFFF"/>
                    </a:solidFill>
                  </a:tcPr>
                </a:tc>
              </a:tr>
              <a:tr h="350520">
                <a:tc>
                  <a:txBody>
                    <a:bodyPr/>
                    <a:lstStyle/>
                    <a:p>
                      <a:pPr>
                        <a:defRPr sz="1300" b="0">
                          <a:solidFill>
                            <a:srgbClr val="232323"/>
                          </a:solidFill>
                          <a:latin typeface="Arial"/>
                        </a:defRPr>
                      </a:pPr>
                      <a:r>
                        <a:t>Raw rows</a:t>
                      </a:r>
                    </a:p>
                  </a:txBody>
                  <a:tcPr marL="73152" marR="45720" marT="36576" marB="36576">
                    <a:solidFill>
                      <a:srgbClr val="F8F9FA"/>
                    </a:solidFill>
                  </a:tcPr>
                </a:tc>
                <a:tc>
                  <a:txBody>
                    <a:bodyPr/>
                    <a:lstStyle/>
                    <a:p>
                      <a:pPr>
                        <a:defRPr sz="1300" b="0">
                          <a:solidFill>
                            <a:srgbClr val="232323"/>
                          </a:solidFill>
                          <a:latin typeface="Arial"/>
                        </a:defRPr>
                      </a:pPr>
                      <a:r>
                        <a:t>541,909 transactions</a:t>
                      </a:r>
                    </a:p>
                  </a:txBody>
                  <a:tcPr marL="73152" marR="45720" marT="36576" marB="36576">
                    <a:solidFill>
                      <a:srgbClr val="F8F9FA"/>
                    </a:solidFill>
                  </a:tcPr>
                </a:tc>
              </a:tr>
              <a:tr h="350520">
                <a:tc>
                  <a:txBody>
                    <a:bodyPr/>
                    <a:lstStyle/>
                    <a:p>
                      <a:pPr>
                        <a:defRPr sz="1300" b="0">
                          <a:solidFill>
                            <a:srgbClr val="232323"/>
                          </a:solidFill>
                          <a:latin typeface="Arial"/>
                        </a:defRPr>
                      </a:pPr>
                      <a:r>
                        <a:t>Columns</a:t>
                      </a:r>
                    </a:p>
                  </a:txBody>
                  <a:tcPr marL="73152" marR="45720" marT="36576" marB="36576">
                    <a:solidFill>
                      <a:srgbClr val="FFFFFF"/>
                    </a:solidFill>
                  </a:tcPr>
                </a:tc>
                <a:tc>
                  <a:txBody>
                    <a:bodyPr/>
                    <a:lstStyle/>
                    <a:p>
                      <a:pPr>
                        <a:defRPr sz="1300" b="0">
                          <a:solidFill>
                            <a:srgbClr val="232323"/>
                          </a:solidFill>
                          <a:latin typeface="Arial"/>
                        </a:defRPr>
                      </a:pPr>
                      <a:r>
                        <a:t>8 transaction-level fields</a:t>
                      </a:r>
                    </a:p>
                  </a:txBody>
                  <a:tcPr marL="73152" marR="45720" marT="36576" marB="36576">
                    <a:solidFill>
                      <a:srgbClr val="FFFFFF"/>
                    </a:solidFill>
                  </a:tcPr>
                </a:tc>
              </a:tr>
              <a:tr h="350520">
                <a:tc>
                  <a:txBody>
                    <a:bodyPr/>
                    <a:lstStyle/>
                    <a:p>
                      <a:pPr>
                        <a:defRPr sz="1300" b="0">
                          <a:solidFill>
                            <a:srgbClr val="232323"/>
                          </a:solidFill>
                          <a:latin typeface="Arial"/>
                        </a:defRPr>
                      </a:pPr>
                      <a:r>
                        <a:t>Date range</a:t>
                      </a:r>
                    </a:p>
                  </a:txBody>
                  <a:tcPr marL="73152" marR="45720" marT="36576" marB="36576">
                    <a:solidFill>
                      <a:srgbClr val="F8F9FA"/>
                    </a:solidFill>
                  </a:tcPr>
                </a:tc>
                <a:tc>
                  <a:txBody>
                    <a:bodyPr/>
                    <a:lstStyle/>
                    <a:p>
                      <a:pPr>
                        <a:defRPr sz="1300" b="0">
                          <a:solidFill>
                            <a:srgbClr val="232323"/>
                          </a:solidFill>
                          <a:latin typeface="Arial"/>
                        </a:defRPr>
                      </a:pPr>
                      <a:r>
                        <a:t>1 Dec 2010 – 9 Dec 2011</a:t>
                      </a:r>
                    </a:p>
                  </a:txBody>
                  <a:tcPr marL="73152" marR="45720" marT="36576" marB="36576">
                    <a:solidFill>
                      <a:srgbClr val="F8F9FA"/>
                    </a:solidFill>
                  </a:tcPr>
                </a:tc>
              </a:tr>
              <a:tr h="350520">
                <a:tc>
                  <a:txBody>
                    <a:bodyPr/>
                    <a:lstStyle/>
                    <a:p>
                      <a:pPr>
                        <a:defRPr sz="1300" b="0">
                          <a:solidFill>
                            <a:srgbClr val="232323"/>
                          </a:solidFill>
                          <a:latin typeface="Arial"/>
                        </a:defRPr>
                      </a:pPr>
                      <a:r>
                        <a:t>Analysis focus</a:t>
                      </a:r>
                    </a:p>
                  </a:txBody>
                  <a:tcPr marL="73152" marR="45720" marT="36576" marB="36576">
                    <a:solidFill>
                      <a:srgbClr val="FFFFFF"/>
                    </a:solidFill>
                  </a:tcPr>
                </a:tc>
                <a:tc>
                  <a:txBody>
                    <a:bodyPr/>
                    <a:lstStyle/>
                    <a:p>
                      <a:pPr>
                        <a:defRPr sz="1300" b="0">
                          <a:solidFill>
                            <a:srgbClr val="232323"/>
                          </a:solidFill>
                          <a:latin typeface="Arial"/>
                        </a:defRPr>
                      </a:pPr>
                      <a:r>
                        <a:t>Revenue, products, customers, time and cancellations</a:t>
                      </a:r>
                    </a:p>
                  </a:txBody>
                  <a:tcPr marL="73152" marR="45720" marT="36576" marB="36576">
                    <a:solidFill>
                      <a:srgbClr val="FFFFFF"/>
                    </a:solidFill>
                  </a:tcPr>
                </a:tc>
              </a:tr>
            </a:tbl>
          </a:graphicData>
        </a:graphic>
      </p:graphicFrame>
      <p:sp>
        <p:nvSpPr>
          <p:cNvPr id="7" name="TextBox 6"/>
          <p:cNvSpPr txBox="1"/>
          <p:nvPr/>
        </p:nvSpPr>
        <p:spPr>
          <a:xfrm>
            <a:off x="7680960" y="1737360"/>
            <a:ext cx="3474720" cy="365760"/>
          </a:xfrm>
          <a:prstGeom prst="rect">
            <a:avLst/>
          </a:prstGeom>
          <a:noFill/>
        </p:spPr>
        <p:txBody>
          <a:bodyPr wrap="square" lIns="45720" rIns="45720" tIns="36576" bIns="27432" anchor="t">
            <a:spAutoFit/>
          </a:bodyPr>
          <a:lstStyle/>
          <a:p>
            <a:pPr algn="l"/>
            <a:r>
              <a:rPr sz="1800" b="1">
                <a:solidFill>
                  <a:srgbClr val="315F91"/>
                </a:solidFill>
                <a:latin typeface="Arial"/>
              </a:rPr>
              <a:t>Main fields</a:t>
            </a:r>
          </a:p>
        </p:txBody>
      </p:sp>
      <p:sp>
        <p:nvSpPr>
          <p:cNvPr id="8" name="TextBox 7"/>
          <p:cNvSpPr txBox="1"/>
          <p:nvPr/>
        </p:nvSpPr>
        <p:spPr>
          <a:xfrm>
            <a:off x="7726679" y="2148840"/>
            <a:ext cx="3566160" cy="2560320"/>
          </a:xfrm>
          <a:prstGeom prst="rect">
            <a:avLst/>
          </a:prstGeom>
          <a:noFill/>
        </p:spPr>
        <p:txBody>
          <a:bodyPr wrap="square" lIns="73152" rIns="45720" tIns="36576">
            <a:spAutoFit/>
          </a:bodyPr>
          <a:lstStyle/>
          <a:p>
            <a:pPr>
              <a:spcAft>
                <a:spcPts val="1000"/>
              </a:spcAft>
              <a:defRPr sz="1500">
                <a:solidFill>
                  <a:srgbClr val="232323"/>
                </a:solidFill>
                <a:latin typeface="Arial"/>
              </a:defRPr>
            </a:pPr>
            <a:r>
              <a:t>InvoiceNo</a:t>
            </a:r>
          </a:p>
          <a:p>
            <a:pPr>
              <a:spcAft>
                <a:spcPts val="1000"/>
              </a:spcAft>
              <a:defRPr sz="1500">
                <a:solidFill>
                  <a:srgbClr val="232323"/>
                </a:solidFill>
                <a:latin typeface="Arial"/>
              </a:defRPr>
            </a:pPr>
            <a:r>
              <a:t>StockCode and Description</a:t>
            </a:r>
          </a:p>
          <a:p>
            <a:pPr>
              <a:spcAft>
                <a:spcPts val="1000"/>
              </a:spcAft>
              <a:defRPr sz="1500">
                <a:solidFill>
                  <a:srgbClr val="232323"/>
                </a:solidFill>
                <a:latin typeface="Arial"/>
              </a:defRPr>
            </a:pPr>
            <a:r>
              <a:t>Quantity and UnitPrice</a:t>
            </a:r>
          </a:p>
          <a:p>
            <a:pPr>
              <a:spcAft>
                <a:spcPts val="1000"/>
              </a:spcAft>
              <a:defRPr sz="1500">
                <a:solidFill>
                  <a:srgbClr val="232323"/>
                </a:solidFill>
                <a:latin typeface="Arial"/>
              </a:defRPr>
            </a:pPr>
            <a:r>
              <a:t>InvoiceDate</a:t>
            </a:r>
          </a:p>
          <a:p>
            <a:pPr>
              <a:spcAft>
                <a:spcPts val="1000"/>
              </a:spcAft>
              <a:defRPr sz="1500">
                <a:solidFill>
                  <a:srgbClr val="232323"/>
                </a:solidFill>
                <a:latin typeface="Arial"/>
              </a:defRPr>
            </a:pPr>
            <a:r>
              <a:t>CustomerID and Country</a:t>
            </a:r>
          </a:p>
        </p:txBody>
      </p:sp>
      <p:sp>
        <p:nvSpPr>
          <p:cNvPr id="9" name="TextBox 8"/>
          <p:cNvSpPr txBox="1"/>
          <p:nvPr/>
        </p:nvSpPr>
        <p:spPr>
          <a:xfrm>
            <a:off x="822960" y="4709160"/>
            <a:ext cx="10424160" cy="777240"/>
          </a:xfrm>
          <a:prstGeom prst="rect">
            <a:avLst/>
          </a:prstGeom>
          <a:noFill/>
        </p:spPr>
        <p:txBody>
          <a:bodyPr wrap="square" lIns="45720" rIns="45720" tIns="36576" bIns="27432" anchor="t">
            <a:spAutoFit/>
          </a:bodyPr>
          <a:lstStyle/>
          <a:p>
            <a:pPr algn="l"/>
            <a:r>
              <a:rPr sz="1600" b="0">
                <a:solidFill>
                  <a:srgbClr val="696969"/>
                </a:solidFill>
                <a:latin typeface="Arial"/>
              </a:rPr>
              <a:t>The data records purchases made by customers, including product, quantity, unit price, invoice time and country.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502920"/>
          </a:xfrm>
          <a:prstGeom prst="rect">
            <a:avLst/>
          </a:prstGeom>
          <a:noFill/>
        </p:spPr>
        <p:txBody>
          <a:bodyPr wrap="square" lIns="45720" rIns="45720" tIns="36576" bIns="27432" anchor="t">
            <a:spAutoFit/>
          </a:bodyPr>
          <a:lstStyle/>
          <a:p>
            <a:pPr algn="l"/>
            <a:r>
              <a:rPr sz="2600" b="1">
                <a:solidFill>
                  <a:srgbClr val="2C3E50"/>
                </a:solidFill>
                <a:latin typeface="Arial"/>
              </a:rPr>
              <a:t>3. Data Cleaning and Preparation</a:t>
            </a:r>
          </a:p>
        </p:txBody>
      </p:sp>
      <p:sp>
        <p:nvSpPr>
          <p:cNvPr id="3" name="Rectangle 2"/>
          <p:cNvSpPr/>
          <p:nvPr/>
        </p:nvSpPr>
        <p:spPr>
          <a:xfrm>
            <a:off x="594360" y="932688"/>
            <a:ext cx="10972800" cy="22860"/>
          </a:xfrm>
          <a:prstGeom prst="rect">
            <a:avLst/>
          </a:prstGeom>
          <a:solidFill>
            <a:srgbClr val="EB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6446520"/>
            <a:ext cx="457200" cy="182880"/>
          </a:xfrm>
          <a:prstGeom prst="rect">
            <a:avLst/>
          </a:prstGeom>
          <a:noFill/>
        </p:spPr>
        <p:txBody>
          <a:bodyPr wrap="square" lIns="45720" rIns="45720" tIns="36576" bIns="27432" anchor="t">
            <a:spAutoFit/>
          </a:bodyPr>
          <a:lstStyle/>
          <a:p>
            <a:pPr algn="r"/>
            <a:r>
              <a:rPr sz="900" b="0">
                <a:solidFill>
                  <a:srgbClr val="696969"/>
                </a:solidFill>
                <a:latin typeface="Arial"/>
              </a:rPr>
              <a:t>4</a:t>
            </a:r>
          </a:p>
        </p:txBody>
      </p:sp>
      <p:sp>
        <p:nvSpPr>
          <p:cNvPr id="5" name="TextBox 4"/>
          <p:cNvSpPr txBox="1"/>
          <p:nvPr/>
        </p:nvSpPr>
        <p:spPr>
          <a:xfrm>
            <a:off x="822960" y="1325880"/>
            <a:ext cx="10515600" cy="3566160"/>
          </a:xfrm>
          <a:prstGeom prst="rect">
            <a:avLst/>
          </a:prstGeom>
          <a:noFill/>
        </p:spPr>
        <p:txBody>
          <a:bodyPr wrap="square" lIns="73152" rIns="45720" tIns="36576">
            <a:spAutoFit/>
          </a:bodyPr>
          <a:lstStyle/>
          <a:p>
            <a:pPr>
              <a:spcAft>
                <a:spcPts val="1300"/>
              </a:spcAft>
              <a:defRPr sz="1700">
                <a:solidFill>
                  <a:srgbClr val="232323"/>
                </a:solidFill>
                <a:latin typeface="Arial"/>
              </a:defRPr>
            </a:pPr>
            <a:r>
              <a:t>Removed duplicate transactions to reduce repeated records.</a:t>
            </a:r>
          </a:p>
          <a:p>
            <a:pPr>
              <a:spcAft>
                <a:spcPts val="1300"/>
              </a:spcAft>
              <a:defRPr sz="1700">
                <a:solidFill>
                  <a:srgbClr val="232323"/>
                </a:solidFill>
                <a:latin typeface="Arial"/>
              </a:defRPr>
            </a:pPr>
            <a:r>
              <a:t>Handled missing product descriptions and customer identifiers.</a:t>
            </a:r>
          </a:p>
          <a:p>
            <a:pPr>
              <a:spcAft>
                <a:spcPts val="1300"/>
              </a:spcAft>
              <a:defRPr sz="1700">
                <a:solidFill>
                  <a:srgbClr val="232323"/>
                </a:solidFill>
                <a:latin typeface="Arial"/>
              </a:defRPr>
            </a:pPr>
            <a:r>
              <a:t>Separated cancelled invoices from completed sales for sales analysis.</a:t>
            </a:r>
          </a:p>
          <a:p>
            <a:pPr>
              <a:spcAft>
                <a:spcPts val="1300"/>
              </a:spcAft>
              <a:defRPr sz="1700">
                <a:solidFill>
                  <a:srgbClr val="232323"/>
                </a:solidFill>
                <a:latin typeface="Arial"/>
              </a:defRPr>
            </a:pPr>
            <a:r>
              <a:t>Created revenue values from Quantity × UnitPrice.</a:t>
            </a:r>
          </a:p>
          <a:p>
            <a:pPr>
              <a:spcAft>
                <a:spcPts val="1300"/>
              </a:spcAft>
              <a:defRPr sz="1700">
                <a:solidFill>
                  <a:srgbClr val="232323"/>
                </a:solidFill>
                <a:latin typeface="Arial"/>
              </a:defRPr>
            </a:pPr>
            <a:r>
              <a:t>Checked unusually large quantities and prices before interpreting outliers.</a:t>
            </a:r>
          </a:p>
          <a:p>
            <a:pPr>
              <a:spcAft>
                <a:spcPts val="1300"/>
              </a:spcAft>
              <a:defRPr sz="1700">
                <a:solidFill>
                  <a:srgbClr val="232323"/>
                </a:solidFill>
                <a:latin typeface="Arial"/>
              </a:defRPr>
            </a:pPr>
            <a:r>
              <a:t>Used cleaned sales records for product, time, country and customer analysis.</a:t>
            </a:r>
          </a:p>
        </p:txBody>
      </p:sp>
      <p:sp>
        <p:nvSpPr>
          <p:cNvPr id="6" name="TextBox 5"/>
          <p:cNvSpPr txBox="1"/>
          <p:nvPr/>
        </p:nvSpPr>
        <p:spPr>
          <a:xfrm>
            <a:off x="822960" y="5257800"/>
            <a:ext cx="10515600" cy="685800"/>
          </a:xfrm>
          <a:prstGeom prst="rect">
            <a:avLst/>
          </a:prstGeom>
          <a:noFill/>
        </p:spPr>
        <p:txBody>
          <a:bodyPr wrap="square" lIns="45720" rIns="45720" tIns="36576" bIns="27432" anchor="t">
            <a:spAutoFit/>
          </a:bodyPr>
          <a:lstStyle/>
          <a:p>
            <a:pPr algn="l"/>
            <a:r>
              <a:rPr sz="1500" b="1">
                <a:solidFill>
                  <a:srgbClr val="AA3E3E"/>
                </a:solidFill>
                <a:latin typeface="Arial"/>
              </a:rPr>
              <a:t>Important limitation: CustomerID is missing for about 24.9% of the rows, so customer-level analysis does not represent every transaction.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502920"/>
          </a:xfrm>
          <a:prstGeom prst="rect">
            <a:avLst/>
          </a:prstGeom>
          <a:noFill/>
        </p:spPr>
        <p:txBody>
          <a:bodyPr wrap="square" lIns="45720" rIns="45720" tIns="36576" bIns="27432" anchor="t">
            <a:spAutoFit/>
          </a:bodyPr>
          <a:lstStyle/>
          <a:p>
            <a:pPr algn="l"/>
            <a:r>
              <a:rPr sz="2600" b="1">
                <a:solidFill>
                  <a:srgbClr val="2C3E50"/>
                </a:solidFill>
                <a:latin typeface="Arial"/>
              </a:rPr>
              <a:t>4. Product Performance</a:t>
            </a:r>
          </a:p>
        </p:txBody>
      </p:sp>
      <p:sp>
        <p:nvSpPr>
          <p:cNvPr id="3" name="Rectangle 2"/>
          <p:cNvSpPr/>
          <p:nvPr/>
        </p:nvSpPr>
        <p:spPr>
          <a:xfrm>
            <a:off x="594360" y="932688"/>
            <a:ext cx="10972800" cy="22860"/>
          </a:xfrm>
          <a:prstGeom prst="rect">
            <a:avLst/>
          </a:prstGeom>
          <a:solidFill>
            <a:srgbClr val="EB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6446520"/>
            <a:ext cx="457200" cy="182880"/>
          </a:xfrm>
          <a:prstGeom prst="rect">
            <a:avLst/>
          </a:prstGeom>
          <a:noFill/>
        </p:spPr>
        <p:txBody>
          <a:bodyPr wrap="square" lIns="45720" rIns="45720" tIns="36576" bIns="27432" anchor="t">
            <a:spAutoFit/>
          </a:bodyPr>
          <a:lstStyle/>
          <a:p>
            <a:pPr algn="r"/>
            <a:r>
              <a:rPr sz="900" b="0">
                <a:solidFill>
                  <a:srgbClr val="696969"/>
                </a:solidFill>
                <a:latin typeface="Arial"/>
              </a:rPr>
              <a:t>5</a:t>
            </a:r>
          </a:p>
        </p:txBody>
      </p:sp>
      <p:sp>
        <p:nvSpPr>
          <p:cNvPr id="5" name="TextBox 4"/>
          <p:cNvSpPr txBox="1"/>
          <p:nvPr/>
        </p:nvSpPr>
        <p:spPr>
          <a:xfrm>
            <a:off x="777240" y="1234440"/>
            <a:ext cx="10515600" cy="365760"/>
          </a:xfrm>
          <a:prstGeom prst="rect">
            <a:avLst/>
          </a:prstGeom>
          <a:noFill/>
        </p:spPr>
        <p:txBody>
          <a:bodyPr wrap="square" lIns="45720" rIns="45720" tIns="36576" bIns="27432" anchor="t">
            <a:spAutoFit/>
          </a:bodyPr>
          <a:lstStyle/>
          <a:p>
            <a:pPr algn="l"/>
            <a:r>
              <a:rPr sz="2000" b="1">
                <a:solidFill>
                  <a:srgbClr val="315F91"/>
                </a:solidFill>
                <a:latin typeface="Arial"/>
              </a:rPr>
              <a:t>Top products by revenue</a:t>
            </a:r>
          </a:p>
        </p:txBody>
      </p:sp>
      <p:graphicFrame>
        <p:nvGraphicFramePr>
          <p:cNvPr id="6" name="Table 5"/>
          <p:cNvGraphicFramePr>
            <a:graphicFrameLocks noGrp="1"/>
          </p:cNvGraphicFramePr>
          <p:nvPr/>
        </p:nvGraphicFramePr>
        <p:xfrm>
          <a:off x="822960" y="1737360"/>
          <a:ext cx="10424159" cy="1920240"/>
        </p:xfrm>
        <a:graphic>
          <a:graphicData uri="http://schemas.openxmlformats.org/drawingml/2006/table">
            <a:tbl>
              <a:tblPr firstRow="1" bandRow="1">
                <a:tableStyleId>{5C22544A-7EE6-4342-B048-85BDC9FD1C3A}</a:tableStyleId>
              </a:tblPr>
              <a:tblGrid>
                <a:gridCol w="7498079"/>
                <a:gridCol w="2926080"/>
              </a:tblGrid>
              <a:tr h="480060">
                <a:tc>
                  <a:txBody>
                    <a:bodyPr/>
                    <a:lstStyle/>
                    <a:p>
                      <a:pPr>
                        <a:defRPr sz="1500" b="1">
                          <a:solidFill>
                            <a:srgbClr val="FFFFFF"/>
                          </a:solidFill>
                          <a:latin typeface="Arial"/>
                        </a:defRPr>
                      </a:pPr>
                      <a:r>
                        <a:t>Product</a:t>
                      </a:r>
                    </a:p>
                  </a:txBody>
                  <a:tcPr marL="73152" marR="45720" marT="36576" marB="36576">
                    <a:solidFill>
                      <a:srgbClr val="2C3E50"/>
                    </a:solidFill>
                  </a:tcPr>
                </a:tc>
                <a:tc>
                  <a:txBody>
                    <a:bodyPr/>
                    <a:lstStyle/>
                    <a:p>
                      <a:pPr>
                        <a:defRPr sz="1500" b="1">
                          <a:solidFill>
                            <a:srgbClr val="FFFFFF"/>
                          </a:solidFill>
                          <a:latin typeface="Arial"/>
                        </a:defRPr>
                      </a:pPr>
                      <a:r>
                        <a:t>Revenue (approx.)</a:t>
                      </a:r>
                    </a:p>
                  </a:txBody>
                  <a:tcPr marL="73152" marR="45720" marT="36576" marB="36576">
                    <a:solidFill>
                      <a:srgbClr val="2C3E50"/>
                    </a:solidFill>
                  </a:tcPr>
                </a:tc>
              </a:tr>
              <a:tr h="480060">
                <a:tc>
                  <a:txBody>
                    <a:bodyPr/>
                    <a:lstStyle/>
                    <a:p>
                      <a:pPr>
                        <a:defRPr sz="1500" b="0">
                          <a:solidFill>
                            <a:srgbClr val="232323"/>
                          </a:solidFill>
                          <a:latin typeface="Arial"/>
                        </a:defRPr>
                      </a:pPr>
                      <a:r>
                        <a:t>Regency Cakestand 3 Tier</a:t>
                      </a:r>
                    </a:p>
                  </a:txBody>
                  <a:tcPr marL="73152" marR="45720" marT="36576" marB="36576">
                    <a:solidFill>
                      <a:srgbClr val="FFFFFF"/>
                    </a:solidFill>
                  </a:tcPr>
                </a:tc>
                <a:tc>
                  <a:txBody>
                    <a:bodyPr/>
                    <a:lstStyle/>
                    <a:p>
                      <a:pPr>
                        <a:defRPr sz="1500" b="0">
                          <a:solidFill>
                            <a:srgbClr val="232323"/>
                          </a:solidFill>
                          <a:latin typeface="Arial"/>
                        </a:defRPr>
                      </a:pPr>
                      <a:r>
                        <a:t>£174,157</a:t>
                      </a:r>
                    </a:p>
                  </a:txBody>
                  <a:tcPr marL="73152" marR="45720" marT="36576" marB="36576">
                    <a:solidFill>
                      <a:srgbClr val="FFFFFF"/>
                    </a:solidFill>
                  </a:tcPr>
                </a:tc>
              </a:tr>
              <a:tr h="480060">
                <a:tc>
                  <a:txBody>
                    <a:bodyPr/>
                    <a:lstStyle/>
                    <a:p>
                      <a:pPr>
                        <a:defRPr sz="1500" b="0">
                          <a:solidFill>
                            <a:srgbClr val="232323"/>
                          </a:solidFill>
                          <a:latin typeface="Arial"/>
                        </a:defRPr>
                      </a:pPr>
                      <a:r>
                        <a:t>White Hanging Heart T-Light Holder</a:t>
                      </a:r>
                    </a:p>
                  </a:txBody>
                  <a:tcPr marL="73152" marR="45720" marT="36576" marB="36576">
                    <a:solidFill>
                      <a:srgbClr val="F8F9FA"/>
                    </a:solidFill>
                  </a:tcPr>
                </a:tc>
                <a:tc>
                  <a:txBody>
                    <a:bodyPr/>
                    <a:lstStyle/>
                    <a:p>
                      <a:pPr>
                        <a:defRPr sz="1500" b="0">
                          <a:solidFill>
                            <a:srgbClr val="232323"/>
                          </a:solidFill>
                          <a:latin typeface="Arial"/>
                        </a:defRPr>
                      </a:pPr>
                      <a:r>
                        <a:t>£106,237</a:t>
                      </a:r>
                    </a:p>
                  </a:txBody>
                  <a:tcPr marL="73152" marR="45720" marT="36576" marB="36576">
                    <a:solidFill>
                      <a:srgbClr val="F8F9FA"/>
                    </a:solidFill>
                  </a:tcPr>
                </a:tc>
              </a:tr>
              <a:tr h="480060">
                <a:tc>
                  <a:txBody>
                    <a:bodyPr/>
                    <a:lstStyle/>
                    <a:p>
                      <a:pPr>
                        <a:defRPr sz="1500" b="0">
                          <a:solidFill>
                            <a:srgbClr val="232323"/>
                          </a:solidFill>
                          <a:latin typeface="Arial"/>
                        </a:defRPr>
                      </a:pPr>
                      <a:r>
                        <a:t>Party Bunting</a:t>
                      </a:r>
                    </a:p>
                  </a:txBody>
                  <a:tcPr marL="73152" marR="45720" marT="36576" marB="36576">
                    <a:solidFill>
                      <a:srgbClr val="FFFFFF"/>
                    </a:solidFill>
                  </a:tcPr>
                </a:tc>
                <a:tc>
                  <a:txBody>
                    <a:bodyPr/>
                    <a:lstStyle/>
                    <a:p>
                      <a:pPr>
                        <a:defRPr sz="1500" b="0">
                          <a:solidFill>
                            <a:srgbClr val="232323"/>
                          </a:solidFill>
                          <a:latin typeface="Arial"/>
                        </a:defRPr>
                      </a:pPr>
                      <a:r>
                        <a:t>£99,445</a:t>
                      </a:r>
                    </a:p>
                  </a:txBody>
                  <a:tcPr marL="73152" marR="45720" marT="36576" marB="36576">
                    <a:solidFill>
                      <a:srgbClr val="FFFFFF"/>
                    </a:solidFill>
                  </a:tcPr>
                </a:tc>
              </a:tr>
            </a:tbl>
          </a:graphicData>
        </a:graphic>
      </p:graphicFrame>
      <p:sp>
        <p:nvSpPr>
          <p:cNvPr id="7" name="TextBox 6"/>
          <p:cNvSpPr txBox="1"/>
          <p:nvPr/>
        </p:nvSpPr>
        <p:spPr>
          <a:xfrm>
            <a:off x="777240" y="4069080"/>
            <a:ext cx="10515600" cy="365760"/>
          </a:xfrm>
          <a:prstGeom prst="rect">
            <a:avLst/>
          </a:prstGeom>
          <a:noFill/>
        </p:spPr>
        <p:txBody>
          <a:bodyPr wrap="square" lIns="45720" rIns="45720" tIns="36576" bIns="27432" anchor="t">
            <a:spAutoFit/>
          </a:bodyPr>
          <a:lstStyle/>
          <a:p>
            <a:pPr algn="l"/>
            <a:r>
              <a:rPr sz="2000" b="1">
                <a:solidFill>
                  <a:srgbClr val="315F91"/>
                </a:solidFill>
                <a:latin typeface="Arial"/>
              </a:rPr>
              <a:t>Top product by quantity</a:t>
            </a:r>
          </a:p>
        </p:txBody>
      </p:sp>
      <p:sp>
        <p:nvSpPr>
          <p:cNvPr id="8" name="TextBox 7"/>
          <p:cNvSpPr txBox="1"/>
          <p:nvPr/>
        </p:nvSpPr>
        <p:spPr>
          <a:xfrm>
            <a:off x="868680" y="4526280"/>
            <a:ext cx="10241280" cy="548640"/>
          </a:xfrm>
          <a:prstGeom prst="rect">
            <a:avLst/>
          </a:prstGeom>
          <a:noFill/>
        </p:spPr>
        <p:txBody>
          <a:bodyPr wrap="square" lIns="45720" rIns="45720" tIns="36576" bIns="27432" anchor="t">
            <a:spAutoFit/>
          </a:bodyPr>
          <a:lstStyle/>
          <a:p>
            <a:pPr algn="l"/>
            <a:r>
              <a:rPr sz="1800" b="1">
                <a:solidFill>
                  <a:srgbClr val="2C3E50"/>
                </a:solidFill>
                <a:latin typeface="Arial"/>
              </a:rPr>
              <a:t>World War 2 Gliders — 54,951 units sold</a:t>
            </a:r>
          </a:p>
        </p:txBody>
      </p:sp>
      <p:sp>
        <p:nvSpPr>
          <p:cNvPr id="9" name="TextBox 8"/>
          <p:cNvSpPr txBox="1"/>
          <p:nvPr/>
        </p:nvSpPr>
        <p:spPr>
          <a:xfrm>
            <a:off x="868680" y="5257800"/>
            <a:ext cx="10241280" cy="685800"/>
          </a:xfrm>
          <a:prstGeom prst="rect">
            <a:avLst/>
          </a:prstGeom>
          <a:noFill/>
        </p:spPr>
        <p:txBody>
          <a:bodyPr wrap="square" lIns="45720" rIns="45720" tIns="36576" bIns="27432" anchor="t">
            <a:spAutoFit/>
          </a:bodyPr>
          <a:lstStyle/>
          <a:p>
            <a:pPr algn="l"/>
            <a:r>
              <a:rPr sz="1500" b="0">
                <a:solidFill>
                  <a:srgbClr val="696969"/>
                </a:solidFill>
                <a:latin typeface="Arial"/>
              </a:rPr>
              <a:t>Observation: The product with the highest revenue is not necessarily the product sold in the largest quantity. Both measures are useful for inventory planning.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502920"/>
          </a:xfrm>
          <a:prstGeom prst="rect">
            <a:avLst/>
          </a:prstGeom>
          <a:noFill/>
        </p:spPr>
        <p:txBody>
          <a:bodyPr wrap="square" lIns="45720" rIns="45720" tIns="36576" bIns="27432" anchor="t">
            <a:spAutoFit/>
          </a:bodyPr>
          <a:lstStyle/>
          <a:p>
            <a:pPr algn="l"/>
            <a:r>
              <a:rPr sz="2600" b="1">
                <a:solidFill>
                  <a:srgbClr val="2C3E50"/>
                </a:solidFill>
                <a:latin typeface="Arial"/>
              </a:rPr>
              <a:t>5. Country-wise Sales Analysis</a:t>
            </a:r>
          </a:p>
        </p:txBody>
      </p:sp>
      <p:sp>
        <p:nvSpPr>
          <p:cNvPr id="3" name="Rectangle 2"/>
          <p:cNvSpPr/>
          <p:nvPr/>
        </p:nvSpPr>
        <p:spPr>
          <a:xfrm>
            <a:off x="594360" y="932688"/>
            <a:ext cx="10972800" cy="22860"/>
          </a:xfrm>
          <a:prstGeom prst="rect">
            <a:avLst/>
          </a:prstGeom>
          <a:solidFill>
            <a:srgbClr val="EB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6446520"/>
            <a:ext cx="457200" cy="182880"/>
          </a:xfrm>
          <a:prstGeom prst="rect">
            <a:avLst/>
          </a:prstGeom>
          <a:noFill/>
        </p:spPr>
        <p:txBody>
          <a:bodyPr wrap="square" lIns="45720" rIns="45720" tIns="36576" bIns="27432" anchor="t">
            <a:spAutoFit/>
          </a:bodyPr>
          <a:lstStyle/>
          <a:p>
            <a:pPr algn="r"/>
            <a:r>
              <a:rPr sz="900" b="0">
                <a:solidFill>
                  <a:srgbClr val="696969"/>
                </a:solidFill>
                <a:latin typeface="Arial"/>
              </a:rPr>
              <a:t>6</a:t>
            </a:r>
          </a:p>
        </p:txBody>
      </p:sp>
      <p:graphicFrame>
        <p:nvGraphicFramePr>
          <p:cNvPr id="5" name="Table 4"/>
          <p:cNvGraphicFramePr>
            <a:graphicFrameLocks noGrp="1"/>
          </p:cNvGraphicFramePr>
          <p:nvPr/>
        </p:nvGraphicFramePr>
        <p:xfrm>
          <a:off x="822960" y="1417320"/>
          <a:ext cx="7315200" cy="2560320"/>
        </p:xfrm>
        <a:graphic>
          <a:graphicData uri="http://schemas.openxmlformats.org/drawingml/2006/table">
            <a:tbl>
              <a:tblPr firstRow="1" bandRow="1">
                <a:tableStyleId>{5C22544A-7EE6-4342-B048-85BDC9FD1C3A}</a:tableStyleId>
              </a:tblPr>
              <a:tblGrid>
                <a:gridCol w="3657600"/>
                <a:gridCol w="3657600"/>
              </a:tblGrid>
              <a:tr h="320040">
                <a:tc>
                  <a:txBody>
                    <a:bodyPr/>
                    <a:lstStyle/>
                    <a:p>
                      <a:pPr>
                        <a:defRPr sz="1400" b="1">
                          <a:solidFill>
                            <a:srgbClr val="FFFFFF"/>
                          </a:solidFill>
                          <a:latin typeface="Arial"/>
                        </a:defRPr>
                      </a:pPr>
                      <a:r>
                        <a:t>Metric</a:t>
                      </a:r>
                    </a:p>
                  </a:txBody>
                  <a:tcPr marL="73152" marR="45720" marT="36576" marB="36576">
                    <a:solidFill>
                      <a:srgbClr val="2C3E50"/>
                    </a:solidFill>
                  </a:tcPr>
                </a:tc>
                <a:tc>
                  <a:txBody>
                    <a:bodyPr/>
                    <a:lstStyle/>
                    <a:p>
                      <a:pPr>
                        <a:defRPr sz="1400" b="1">
                          <a:solidFill>
                            <a:srgbClr val="FFFFFF"/>
                          </a:solidFill>
                          <a:latin typeface="Arial"/>
                        </a:defRPr>
                      </a:pPr>
                      <a:r>
                        <a:t>Finding</a:t>
                      </a:r>
                    </a:p>
                  </a:txBody>
                  <a:tcPr marL="73152" marR="45720" marT="36576" marB="36576">
                    <a:solidFill>
                      <a:srgbClr val="2C3E50"/>
                    </a:solidFill>
                  </a:tcPr>
                </a:tc>
              </a:tr>
              <a:tr h="320040">
                <a:tc>
                  <a:txBody>
                    <a:bodyPr/>
                    <a:lstStyle/>
                    <a:p>
                      <a:pPr>
                        <a:defRPr sz="1400" b="0">
                          <a:solidFill>
                            <a:srgbClr val="232323"/>
                          </a:solidFill>
                          <a:latin typeface="Arial"/>
                        </a:defRPr>
                      </a:pPr>
                      <a:r>
                        <a:t>UK share of revenue</a:t>
                      </a:r>
                    </a:p>
                  </a:txBody>
                  <a:tcPr marL="73152" marR="45720" marT="36576" marB="36576">
                    <a:solidFill>
                      <a:srgbClr val="FFFFFF"/>
                    </a:solidFill>
                  </a:tcPr>
                </a:tc>
                <a:tc>
                  <a:txBody>
                    <a:bodyPr/>
                    <a:lstStyle/>
                    <a:p>
                      <a:pPr>
                        <a:defRPr sz="1400" b="0">
                          <a:solidFill>
                            <a:srgbClr val="232323"/>
                          </a:solidFill>
                          <a:latin typeface="Arial"/>
                        </a:defRPr>
                      </a:pPr>
                      <a:r>
                        <a:t>84.8%</a:t>
                      </a:r>
                    </a:p>
                  </a:txBody>
                  <a:tcPr marL="73152" marR="45720" marT="36576" marB="36576">
                    <a:solidFill>
                      <a:srgbClr val="FFFFFF"/>
                    </a:solidFill>
                  </a:tcPr>
                </a:tc>
              </a:tr>
              <a:tr h="320040">
                <a:tc>
                  <a:txBody>
                    <a:bodyPr/>
                    <a:lstStyle/>
                    <a:p>
                      <a:pPr>
                        <a:defRPr sz="1400" b="0">
                          <a:solidFill>
                            <a:srgbClr val="232323"/>
                          </a:solidFill>
                          <a:latin typeface="Arial"/>
                        </a:defRPr>
                      </a:pPr>
                      <a:r>
                        <a:t>UK share of orders</a:t>
                      </a:r>
                    </a:p>
                  </a:txBody>
                  <a:tcPr marL="73152" marR="45720" marT="36576" marB="36576">
                    <a:solidFill>
                      <a:srgbClr val="F8F9FA"/>
                    </a:solidFill>
                  </a:tcPr>
                </a:tc>
                <a:tc>
                  <a:txBody>
                    <a:bodyPr/>
                    <a:lstStyle/>
                    <a:p>
                      <a:pPr>
                        <a:defRPr sz="1400" b="0">
                          <a:solidFill>
                            <a:srgbClr val="232323"/>
                          </a:solidFill>
                          <a:latin typeface="Arial"/>
                        </a:defRPr>
                      </a:pPr>
                      <a:r>
                        <a:t>90.5%</a:t>
                      </a:r>
                    </a:p>
                  </a:txBody>
                  <a:tcPr marL="73152" marR="45720" marT="36576" marB="36576">
                    <a:solidFill>
                      <a:srgbClr val="F8F9FA"/>
                    </a:solidFill>
                  </a:tcPr>
                </a:tc>
              </a:tr>
              <a:tr h="320040">
                <a:tc>
                  <a:txBody>
                    <a:bodyPr/>
                    <a:lstStyle/>
                    <a:p>
                      <a:pPr>
                        <a:defRPr sz="1400" b="0">
                          <a:solidFill>
                            <a:srgbClr val="232323"/>
                          </a:solidFill>
                          <a:latin typeface="Arial"/>
                        </a:defRPr>
                      </a:pPr>
                      <a:r>
                        <a:t>Netherlands revenue share</a:t>
                      </a:r>
                    </a:p>
                  </a:txBody>
                  <a:tcPr marL="73152" marR="45720" marT="36576" marB="36576">
                    <a:solidFill>
                      <a:srgbClr val="FFFFFF"/>
                    </a:solidFill>
                  </a:tcPr>
                </a:tc>
                <a:tc>
                  <a:txBody>
                    <a:bodyPr/>
                    <a:lstStyle/>
                    <a:p>
                      <a:pPr>
                        <a:defRPr sz="1400" b="0">
                          <a:solidFill>
                            <a:srgbClr val="232323"/>
                          </a:solidFill>
                          <a:latin typeface="Arial"/>
                        </a:defRPr>
                      </a:pPr>
                      <a:r>
                        <a:t>2.8%</a:t>
                      </a:r>
                    </a:p>
                  </a:txBody>
                  <a:tcPr marL="73152" marR="45720" marT="36576" marB="36576">
                    <a:solidFill>
                      <a:srgbClr val="FFFFFF"/>
                    </a:solidFill>
                  </a:tcPr>
                </a:tc>
              </a:tr>
              <a:tr h="320040">
                <a:tc>
                  <a:txBody>
                    <a:bodyPr/>
                    <a:lstStyle/>
                    <a:p>
                      <a:pPr>
                        <a:defRPr sz="1400" b="0">
                          <a:solidFill>
                            <a:srgbClr val="232323"/>
                          </a:solidFill>
                          <a:latin typeface="Arial"/>
                        </a:defRPr>
                      </a:pPr>
                      <a:r>
                        <a:t>EIRE revenue share</a:t>
                      </a:r>
                    </a:p>
                  </a:txBody>
                  <a:tcPr marL="73152" marR="45720" marT="36576" marB="36576">
                    <a:solidFill>
                      <a:srgbClr val="F8F9FA"/>
                    </a:solidFill>
                  </a:tcPr>
                </a:tc>
                <a:tc>
                  <a:txBody>
                    <a:bodyPr/>
                    <a:lstStyle/>
                    <a:p>
                      <a:pPr>
                        <a:defRPr sz="1400" b="0">
                          <a:solidFill>
                            <a:srgbClr val="232323"/>
                          </a:solidFill>
                          <a:latin typeface="Arial"/>
                        </a:defRPr>
                      </a:pPr>
                      <a:r>
                        <a:t>2.7%</a:t>
                      </a:r>
                    </a:p>
                  </a:txBody>
                  <a:tcPr marL="73152" marR="45720" marT="36576" marB="36576">
                    <a:solidFill>
                      <a:srgbClr val="F8F9FA"/>
                    </a:solidFill>
                  </a:tcPr>
                </a:tc>
              </a:tr>
              <a:tr h="320040">
                <a:tc>
                  <a:txBody>
                    <a:bodyPr/>
                    <a:lstStyle/>
                    <a:p>
                      <a:pPr>
                        <a:defRPr sz="1400" b="0">
                          <a:solidFill>
                            <a:srgbClr val="232323"/>
                          </a:solidFill>
                          <a:latin typeface="Arial"/>
                        </a:defRPr>
                      </a:pPr>
                      <a:r>
                        <a:t>Germany revenue share</a:t>
                      </a:r>
                    </a:p>
                  </a:txBody>
                  <a:tcPr marL="73152" marR="45720" marT="36576" marB="36576">
                    <a:solidFill>
                      <a:srgbClr val="FFFFFF"/>
                    </a:solidFill>
                  </a:tcPr>
                </a:tc>
                <a:tc>
                  <a:txBody>
                    <a:bodyPr/>
                    <a:lstStyle/>
                    <a:p>
                      <a:pPr>
                        <a:defRPr sz="1400" b="0">
                          <a:solidFill>
                            <a:srgbClr val="232323"/>
                          </a:solidFill>
                          <a:latin typeface="Arial"/>
                        </a:defRPr>
                      </a:pPr>
                      <a:r>
                        <a:t>2.1%</a:t>
                      </a:r>
                    </a:p>
                  </a:txBody>
                  <a:tcPr marL="73152" marR="45720" marT="36576" marB="36576">
                    <a:solidFill>
                      <a:srgbClr val="FFFFFF"/>
                    </a:solidFill>
                  </a:tcPr>
                </a:tc>
              </a:tr>
              <a:tr h="320040">
                <a:tc>
                  <a:txBody>
                    <a:bodyPr/>
                    <a:lstStyle/>
                    <a:p>
                      <a:pPr>
                        <a:defRPr sz="1400" b="0">
                          <a:solidFill>
                            <a:srgbClr val="232323"/>
                          </a:solidFill>
                          <a:latin typeface="Arial"/>
                        </a:defRPr>
                      </a:pPr>
                      <a:r>
                        <a:t>France revenue share</a:t>
                      </a:r>
                    </a:p>
                  </a:txBody>
                  <a:tcPr marL="73152" marR="45720" marT="36576" marB="36576">
                    <a:solidFill>
                      <a:srgbClr val="F8F9FA"/>
                    </a:solidFill>
                  </a:tcPr>
                </a:tc>
                <a:tc>
                  <a:txBody>
                    <a:bodyPr/>
                    <a:lstStyle/>
                    <a:p>
                      <a:pPr>
                        <a:defRPr sz="1400" b="0">
                          <a:solidFill>
                            <a:srgbClr val="232323"/>
                          </a:solidFill>
                          <a:latin typeface="Arial"/>
                        </a:defRPr>
                      </a:pPr>
                      <a:r>
                        <a:t>1.8%</a:t>
                      </a:r>
                    </a:p>
                  </a:txBody>
                  <a:tcPr marL="73152" marR="45720" marT="36576" marB="36576">
                    <a:solidFill>
                      <a:srgbClr val="F8F9FA"/>
                    </a:solidFill>
                  </a:tcPr>
                </a:tc>
              </a:tr>
              <a:tr h="320040">
                <a:tc>
                  <a:txBody>
                    <a:bodyPr/>
                    <a:lstStyle/>
                    <a:p>
                      <a:pPr>
                        <a:defRPr sz="1400" b="0">
                          <a:solidFill>
                            <a:srgbClr val="232323"/>
                          </a:solidFill>
                          <a:latin typeface="Arial"/>
                        </a:defRPr>
                      </a:pPr>
                      <a:r>
                        <a:t>Australia revenue share</a:t>
                      </a:r>
                    </a:p>
                  </a:txBody>
                  <a:tcPr marL="73152" marR="45720" marT="36576" marB="36576">
                    <a:solidFill>
                      <a:srgbClr val="FFFFFF"/>
                    </a:solidFill>
                  </a:tcPr>
                </a:tc>
                <a:tc>
                  <a:txBody>
                    <a:bodyPr/>
                    <a:lstStyle/>
                    <a:p>
                      <a:pPr>
                        <a:defRPr sz="1400" b="0">
                          <a:solidFill>
                            <a:srgbClr val="232323"/>
                          </a:solidFill>
                          <a:latin typeface="Arial"/>
                        </a:defRPr>
                      </a:pPr>
                      <a:r>
                        <a:t>1.4%</a:t>
                      </a:r>
                    </a:p>
                  </a:txBody>
                  <a:tcPr marL="73152" marR="45720" marT="36576" marB="36576">
                    <a:solidFill>
                      <a:srgbClr val="FFFFFF"/>
                    </a:solidFill>
                  </a:tcPr>
                </a:tc>
              </a:tr>
            </a:tbl>
          </a:graphicData>
        </a:graphic>
      </p:graphicFrame>
      <p:sp>
        <p:nvSpPr>
          <p:cNvPr id="6" name="TextBox 5"/>
          <p:cNvSpPr txBox="1"/>
          <p:nvPr/>
        </p:nvSpPr>
        <p:spPr>
          <a:xfrm>
            <a:off x="8458200" y="1554480"/>
            <a:ext cx="2743200" cy="411480"/>
          </a:xfrm>
          <a:prstGeom prst="rect">
            <a:avLst/>
          </a:prstGeom>
          <a:noFill/>
        </p:spPr>
        <p:txBody>
          <a:bodyPr wrap="square" lIns="45720" rIns="45720" tIns="36576" bIns="27432" anchor="t">
            <a:spAutoFit/>
          </a:bodyPr>
          <a:lstStyle/>
          <a:p>
            <a:pPr algn="l"/>
            <a:r>
              <a:rPr sz="1800" b="1">
                <a:solidFill>
                  <a:srgbClr val="315F91"/>
                </a:solidFill>
                <a:latin typeface="Arial"/>
              </a:rPr>
              <a:t>Interpretation</a:t>
            </a:r>
          </a:p>
        </p:txBody>
      </p:sp>
      <p:sp>
        <p:nvSpPr>
          <p:cNvPr id="7" name="TextBox 6"/>
          <p:cNvSpPr txBox="1"/>
          <p:nvPr/>
        </p:nvSpPr>
        <p:spPr>
          <a:xfrm>
            <a:off x="8458200" y="2057400"/>
            <a:ext cx="2743200" cy="2194560"/>
          </a:xfrm>
          <a:prstGeom prst="rect">
            <a:avLst/>
          </a:prstGeom>
          <a:noFill/>
        </p:spPr>
        <p:txBody>
          <a:bodyPr wrap="square" lIns="45720" rIns="45720" tIns="36576" bIns="27432" anchor="t">
            <a:spAutoFit/>
          </a:bodyPr>
          <a:lstStyle/>
          <a:p>
            <a:pPr algn="l"/>
            <a:r>
              <a:rPr sz="1500" b="0">
                <a:solidFill>
                  <a:srgbClr val="232323"/>
                </a:solidFill>
                <a:latin typeface="Arial"/>
              </a:rPr>
              <a:t>The UK is the main market. Other countries contribute smaller shares, but the analysis indicates higher average order values outside the UK.</a:t>
            </a:r>
          </a:p>
        </p:txBody>
      </p:sp>
      <p:sp>
        <p:nvSpPr>
          <p:cNvPr id="8" name="TextBox 7"/>
          <p:cNvSpPr txBox="1"/>
          <p:nvPr/>
        </p:nvSpPr>
        <p:spPr>
          <a:xfrm>
            <a:off x="868680" y="4709160"/>
            <a:ext cx="10332720" cy="731520"/>
          </a:xfrm>
          <a:prstGeom prst="rect">
            <a:avLst/>
          </a:prstGeom>
          <a:noFill/>
        </p:spPr>
        <p:txBody>
          <a:bodyPr wrap="square" lIns="45720" rIns="45720" tIns="36576" bIns="27432" anchor="t">
            <a:spAutoFit/>
          </a:bodyPr>
          <a:lstStyle/>
          <a:p>
            <a:pPr algn="l"/>
            <a:r>
              <a:rPr sz="1600" b="1">
                <a:solidFill>
                  <a:srgbClr val="2C3E50"/>
                </a:solidFill>
                <a:latin typeface="Arial"/>
              </a:rPr>
              <a:t>Recommendation: test international campaigns carefully and compare additional costs, cancellation rates and profitability before expanding.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502920"/>
          </a:xfrm>
          <a:prstGeom prst="rect">
            <a:avLst/>
          </a:prstGeom>
          <a:noFill/>
        </p:spPr>
        <p:txBody>
          <a:bodyPr wrap="square" lIns="45720" rIns="45720" tIns="36576" bIns="27432" anchor="t">
            <a:spAutoFit/>
          </a:bodyPr>
          <a:lstStyle/>
          <a:p>
            <a:pPr algn="l"/>
            <a:r>
              <a:rPr sz="2600" b="1">
                <a:solidFill>
                  <a:srgbClr val="2C3E50"/>
                </a:solidFill>
                <a:latin typeface="Arial"/>
              </a:rPr>
              <a:t>6. Time-based Sales Patterns</a:t>
            </a:r>
          </a:p>
        </p:txBody>
      </p:sp>
      <p:sp>
        <p:nvSpPr>
          <p:cNvPr id="3" name="Rectangle 2"/>
          <p:cNvSpPr/>
          <p:nvPr/>
        </p:nvSpPr>
        <p:spPr>
          <a:xfrm>
            <a:off x="594360" y="932688"/>
            <a:ext cx="10972800" cy="22860"/>
          </a:xfrm>
          <a:prstGeom prst="rect">
            <a:avLst/>
          </a:prstGeom>
          <a:solidFill>
            <a:srgbClr val="EB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6446520"/>
            <a:ext cx="457200" cy="182880"/>
          </a:xfrm>
          <a:prstGeom prst="rect">
            <a:avLst/>
          </a:prstGeom>
          <a:noFill/>
        </p:spPr>
        <p:txBody>
          <a:bodyPr wrap="square" lIns="45720" rIns="45720" tIns="36576" bIns="27432" anchor="t">
            <a:spAutoFit/>
          </a:bodyPr>
          <a:lstStyle/>
          <a:p>
            <a:pPr algn="r"/>
            <a:r>
              <a:rPr sz="900" b="0">
                <a:solidFill>
                  <a:srgbClr val="696969"/>
                </a:solidFill>
                <a:latin typeface="Arial"/>
              </a:rPr>
              <a:t>7</a:t>
            </a:r>
          </a:p>
        </p:txBody>
      </p:sp>
      <p:sp>
        <p:nvSpPr>
          <p:cNvPr id="5" name="TextBox 4"/>
          <p:cNvSpPr txBox="1"/>
          <p:nvPr/>
        </p:nvSpPr>
        <p:spPr>
          <a:xfrm>
            <a:off x="777240" y="1234440"/>
            <a:ext cx="10515600" cy="365760"/>
          </a:xfrm>
          <a:prstGeom prst="rect">
            <a:avLst/>
          </a:prstGeom>
          <a:noFill/>
        </p:spPr>
        <p:txBody>
          <a:bodyPr wrap="square" lIns="45720" rIns="45720" tIns="36576" bIns="27432" anchor="t">
            <a:spAutoFit/>
          </a:bodyPr>
          <a:lstStyle/>
          <a:p>
            <a:pPr algn="l"/>
            <a:r>
              <a:rPr sz="2000" b="1">
                <a:solidFill>
                  <a:srgbClr val="315F91"/>
                </a:solidFill>
                <a:latin typeface="Arial"/>
              </a:rPr>
              <a:t>Monthly revenue findings</a:t>
            </a:r>
          </a:p>
        </p:txBody>
      </p:sp>
      <p:graphicFrame>
        <p:nvGraphicFramePr>
          <p:cNvPr id="6" name="Table 5"/>
          <p:cNvGraphicFramePr>
            <a:graphicFrameLocks noGrp="1"/>
          </p:cNvGraphicFramePr>
          <p:nvPr/>
        </p:nvGraphicFramePr>
        <p:xfrm>
          <a:off x="822960" y="1691640"/>
          <a:ext cx="5669280" cy="2011680"/>
        </p:xfrm>
        <a:graphic>
          <a:graphicData uri="http://schemas.openxmlformats.org/drawingml/2006/table">
            <a:tbl>
              <a:tblPr firstRow="1" bandRow="1">
                <a:tableStyleId>{5C22544A-7EE6-4342-B048-85BDC9FD1C3A}</a:tableStyleId>
              </a:tblPr>
              <a:tblGrid>
                <a:gridCol w="2743200"/>
                <a:gridCol w="2926080"/>
              </a:tblGrid>
              <a:tr h="402336">
                <a:tc>
                  <a:txBody>
                    <a:bodyPr/>
                    <a:lstStyle/>
                    <a:p>
                      <a:pPr>
                        <a:defRPr sz="1400" b="1">
                          <a:solidFill>
                            <a:srgbClr val="FFFFFF"/>
                          </a:solidFill>
                          <a:latin typeface="Arial"/>
                        </a:defRPr>
                      </a:pPr>
                      <a:r>
                        <a:t>Period</a:t>
                      </a:r>
                    </a:p>
                  </a:txBody>
                  <a:tcPr marL="73152" marR="45720" marT="36576" marB="36576">
                    <a:solidFill>
                      <a:srgbClr val="2C3E50"/>
                    </a:solidFill>
                  </a:tcPr>
                </a:tc>
                <a:tc>
                  <a:txBody>
                    <a:bodyPr/>
                    <a:lstStyle/>
                    <a:p>
                      <a:pPr>
                        <a:defRPr sz="1400" b="1">
                          <a:solidFill>
                            <a:srgbClr val="FFFFFF"/>
                          </a:solidFill>
                          <a:latin typeface="Arial"/>
                        </a:defRPr>
                      </a:pPr>
                      <a:r>
                        <a:t>Approx. revenue</a:t>
                      </a:r>
                    </a:p>
                  </a:txBody>
                  <a:tcPr marL="73152" marR="45720" marT="36576" marB="36576">
                    <a:solidFill>
                      <a:srgbClr val="2C3E50"/>
                    </a:solidFill>
                  </a:tcPr>
                </a:tc>
              </a:tr>
              <a:tr h="402336">
                <a:tc>
                  <a:txBody>
                    <a:bodyPr/>
                    <a:lstStyle/>
                    <a:p>
                      <a:pPr>
                        <a:defRPr sz="1400" b="0">
                          <a:solidFill>
                            <a:srgbClr val="232323"/>
                          </a:solidFill>
                          <a:latin typeface="Arial"/>
                        </a:defRPr>
                      </a:pPr>
                      <a:r>
                        <a:t>January–August</a:t>
                      </a:r>
                    </a:p>
                  </a:txBody>
                  <a:tcPr marL="73152" marR="45720" marT="36576" marB="36576">
                    <a:solidFill>
                      <a:srgbClr val="FFFFFF"/>
                    </a:solidFill>
                  </a:tcPr>
                </a:tc>
                <a:tc>
                  <a:txBody>
                    <a:bodyPr/>
                    <a:lstStyle/>
                    <a:p>
                      <a:pPr>
                        <a:defRPr sz="1400" b="0">
                          <a:solidFill>
                            <a:srgbClr val="232323"/>
                          </a:solidFill>
                          <a:latin typeface="Arial"/>
                        </a:defRPr>
                      </a:pPr>
                      <a:r>
                        <a:t>£0.50M–£0.74M per month</a:t>
                      </a:r>
                    </a:p>
                  </a:txBody>
                  <a:tcPr marL="73152" marR="45720" marT="36576" marB="36576">
                    <a:solidFill>
                      <a:srgbClr val="FFFFFF"/>
                    </a:solidFill>
                  </a:tcPr>
                </a:tc>
              </a:tr>
              <a:tr h="402336">
                <a:tc>
                  <a:txBody>
                    <a:bodyPr/>
                    <a:lstStyle/>
                    <a:p>
                      <a:pPr>
                        <a:defRPr sz="1400" b="0">
                          <a:solidFill>
                            <a:srgbClr val="232323"/>
                          </a:solidFill>
                          <a:latin typeface="Arial"/>
                        </a:defRPr>
                      </a:pPr>
                      <a:r>
                        <a:t>September</a:t>
                      </a:r>
                    </a:p>
                  </a:txBody>
                  <a:tcPr marL="73152" marR="45720" marT="36576" marB="36576">
                    <a:solidFill>
                      <a:srgbClr val="F8F9FA"/>
                    </a:solidFill>
                  </a:tcPr>
                </a:tc>
                <a:tc>
                  <a:txBody>
                    <a:bodyPr/>
                    <a:lstStyle/>
                    <a:p>
                      <a:pPr>
                        <a:defRPr sz="1400" b="0">
                          <a:solidFill>
                            <a:srgbClr val="232323"/>
                          </a:solidFill>
                          <a:latin typeface="Arial"/>
                        </a:defRPr>
                      </a:pPr>
                      <a:r>
                        <a:t>£1.03M</a:t>
                      </a:r>
                    </a:p>
                  </a:txBody>
                  <a:tcPr marL="73152" marR="45720" marT="36576" marB="36576">
                    <a:solidFill>
                      <a:srgbClr val="F8F9FA"/>
                    </a:solidFill>
                  </a:tcPr>
                </a:tc>
              </a:tr>
              <a:tr h="402336">
                <a:tc>
                  <a:txBody>
                    <a:bodyPr/>
                    <a:lstStyle/>
                    <a:p>
                      <a:pPr>
                        <a:defRPr sz="1400" b="0">
                          <a:solidFill>
                            <a:srgbClr val="232323"/>
                          </a:solidFill>
                          <a:latin typeface="Arial"/>
                        </a:defRPr>
                      </a:pPr>
                      <a:r>
                        <a:t>October</a:t>
                      </a:r>
                    </a:p>
                  </a:txBody>
                  <a:tcPr marL="73152" marR="45720" marT="36576" marB="36576">
                    <a:solidFill>
                      <a:srgbClr val="FFFFFF"/>
                    </a:solidFill>
                  </a:tcPr>
                </a:tc>
                <a:tc>
                  <a:txBody>
                    <a:bodyPr/>
                    <a:lstStyle/>
                    <a:p>
                      <a:pPr>
                        <a:defRPr sz="1400" b="0">
                          <a:solidFill>
                            <a:srgbClr val="232323"/>
                          </a:solidFill>
                          <a:latin typeface="Arial"/>
                        </a:defRPr>
                      </a:pPr>
                      <a:r>
                        <a:t>£1.10M</a:t>
                      </a:r>
                    </a:p>
                  </a:txBody>
                  <a:tcPr marL="73152" marR="45720" marT="36576" marB="36576">
                    <a:solidFill>
                      <a:srgbClr val="FFFFFF"/>
                    </a:solidFill>
                  </a:tcPr>
                </a:tc>
              </a:tr>
              <a:tr h="402336">
                <a:tc>
                  <a:txBody>
                    <a:bodyPr/>
                    <a:lstStyle/>
                    <a:p>
                      <a:pPr>
                        <a:defRPr sz="1400" b="0">
                          <a:solidFill>
                            <a:srgbClr val="232323"/>
                          </a:solidFill>
                          <a:latin typeface="Arial"/>
                        </a:defRPr>
                      </a:pPr>
                      <a:r>
                        <a:t>November</a:t>
                      </a:r>
                    </a:p>
                  </a:txBody>
                  <a:tcPr marL="73152" marR="45720" marT="36576" marB="36576">
                    <a:solidFill>
                      <a:srgbClr val="F8F9FA"/>
                    </a:solidFill>
                  </a:tcPr>
                </a:tc>
                <a:tc>
                  <a:txBody>
                    <a:bodyPr/>
                    <a:lstStyle/>
                    <a:p>
                      <a:pPr>
                        <a:defRPr sz="1400" b="0">
                          <a:solidFill>
                            <a:srgbClr val="232323"/>
                          </a:solidFill>
                          <a:latin typeface="Arial"/>
                        </a:defRPr>
                      </a:pPr>
                      <a:r>
                        <a:t>£1.45M (peak)</a:t>
                      </a:r>
                    </a:p>
                  </a:txBody>
                  <a:tcPr marL="73152" marR="45720" marT="36576" marB="36576">
                    <a:solidFill>
                      <a:srgbClr val="F8F9FA"/>
                    </a:solidFill>
                  </a:tcPr>
                </a:tc>
              </a:tr>
            </a:tbl>
          </a:graphicData>
        </a:graphic>
      </p:graphicFrame>
      <p:sp>
        <p:nvSpPr>
          <p:cNvPr id="7" name="TextBox 6"/>
          <p:cNvSpPr txBox="1"/>
          <p:nvPr/>
        </p:nvSpPr>
        <p:spPr>
          <a:xfrm>
            <a:off x="6903720" y="1737360"/>
            <a:ext cx="4114800" cy="365760"/>
          </a:xfrm>
          <a:prstGeom prst="rect">
            <a:avLst/>
          </a:prstGeom>
          <a:noFill/>
        </p:spPr>
        <p:txBody>
          <a:bodyPr wrap="square" lIns="45720" rIns="45720" tIns="36576" bIns="27432" anchor="t">
            <a:spAutoFit/>
          </a:bodyPr>
          <a:lstStyle/>
          <a:p>
            <a:pPr algn="l"/>
            <a:r>
              <a:rPr sz="1800" b="1">
                <a:solidFill>
                  <a:srgbClr val="315F91"/>
                </a:solidFill>
                <a:latin typeface="Arial"/>
              </a:rPr>
              <a:t>Other observations</a:t>
            </a:r>
          </a:p>
        </p:txBody>
      </p:sp>
      <p:sp>
        <p:nvSpPr>
          <p:cNvPr id="8" name="TextBox 7"/>
          <p:cNvSpPr txBox="1"/>
          <p:nvPr/>
        </p:nvSpPr>
        <p:spPr>
          <a:xfrm>
            <a:off x="6903720" y="2194560"/>
            <a:ext cx="4206240" cy="2468880"/>
          </a:xfrm>
          <a:prstGeom prst="rect">
            <a:avLst/>
          </a:prstGeom>
          <a:noFill/>
        </p:spPr>
        <p:txBody>
          <a:bodyPr wrap="square" lIns="73152" rIns="45720" tIns="36576">
            <a:spAutoFit/>
          </a:bodyPr>
          <a:lstStyle/>
          <a:p>
            <a:pPr>
              <a:spcAft>
                <a:spcPts val="1000"/>
              </a:spcAft>
              <a:defRPr sz="1400">
                <a:solidFill>
                  <a:srgbClr val="232323"/>
                </a:solidFill>
                <a:latin typeface="Arial"/>
              </a:defRPr>
            </a:pPr>
            <a:r>
              <a:t>Thursday has the most orders.</a:t>
            </a:r>
          </a:p>
          <a:p>
            <a:pPr>
              <a:spcAft>
                <a:spcPts val="1000"/>
              </a:spcAft>
              <a:defRPr sz="1400">
                <a:solidFill>
                  <a:srgbClr val="232323"/>
                </a:solidFill>
                <a:latin typeface="Arial"/>
              </a:defRPr>
            </a:pPr>
            <a:r>
              <a:t>Orders are concentrated between 10 a.m. and 4 p.m.</a:t>
            </a:r>
          </a:p>
          <a:p>
            <a:pPr>
              <a:spcAft>
                <a:spcPts val="1000"/>
              </a:spcAft>
              <a:defRPr sz="1400">
                <a:solidFill>
                  <a:srgbClr val="232323"/>
                </a:solidFill>
                <a:latin typeface="Arial"/>
              </a:defRPr>
            </a:pPr>
            <a:r>
              <a:t>Saturday has no orders in the analyzed data.</a:t>
            </a:r>
          </a:p>
          <a:p>
            <a:pPr>
              <a:spcAft>
                <a:spcPts val="1000"/>
              </a:spcAft>
              <a:defRPr sz="1400">
                <a:solidFill>
                  <a:srgbClr val="232323"/>
                </a:solidFill>
                <a:latin typeface="Arial"/>
              </a:defRPr>
            </a:pPr>
            <a:r>
              <a:t>December 2011 is incomplete.</a:t>
            </a:r>
          </a:p>
        </p:txBody>
      </p:sp>
      <p:sp>
        <p:nvSpPr>
          <p:cNvPr id="9" name="TextBox 8"/>
          <p:cNvSpPr txBox="1"/>
          <p:nvPr/>
        </p:nvSpPr>
        <p:spPr>
          <a:xfrm>
            <a:off x="868680" y="4572000"/>
            <a:ext cx="10332720" cy="731520"/>
          </a:xfrm>
          <a:prstGeom prst="rect">
            <a:avLst/>
          </a:prstGeom>
          <a:noFill/>
        </p:spPr>
        <p:txBody>
          <a:bodyPr wrap="square" lIns="45720" rIns="45720" tIns="36576" bIns="27432" anchor="t">
            <a:spAutoFit/>
          </a:bodyPr>
          <a:lstStyle/>
          <a:p>
            <a:pPr algn="l"/>
            <a:r>
              <a:rPr sz="1600" b="1">
                <a:solidFill>
                  <a:srgbClr val="2C3E50"/>
                </a:solidFill>
                <a:latin typeface="Arial"/>
              </a:rPr>
              <a:t>Recommendation: plan inventory and promotional activity before the September–November peak. Treat the incomplete December data cautiously.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502920"/>
          </a:xfrm>
          <a:prstGeom prst="rect">
            <a:avLst/>
          </a:prstGeom>
          <a:noFill/>
        </p:spPr>
        <p:txBody>
          <a:bodyPr wrap="square" lIns="45720" rIns="45720" tIns="36576" bIns="27432" anchor="t">
            <a:spAutoFit/>
          </a:bodyPr>
          <a:lstStyle/>
          <a:p>
            <a:pPr algn="l"/>
            <a:r>
              <a:rPr sz="2600" b="1">
                <a:solidFill>
                  <a:srgbClr val="2C3E50"/>
                </a:solidFill>
                <a:latin typeface="Arial"/>
              </a:rPr>
              <a:t>7. Customer Behavior Analysis</a:t>
            </a:r>
          </a:p>
        </p:txBody>
      </p:sp>
      <p:sp>
        <p:nvSpPr>
          <p:cNvPr id="3" name="Rectangle 2"/>
          <p:cNvSpPr/>
          <p:nvPr/>
        </p:nvSpPr>
        <p:spPr>
          <a:xfrm>
            <a:off x="594360" y="932688"/>
            <a:ext cx="10972800" cy="22860"/>
          </a:xfrm>
          <a:prstGeom prst="rect">
            <a:avLst/>
          </a:prstGeom>
          <a:solidFill>
            <a:srgbClr val="EB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6446520"/>
            <a:ext cx="457200" cy="182880"/>
          </a:xfrm>
          <a:prstGeom prst="rect">
            <a:avLst/>
          </a:prstGeom>
          <a:noFill/>
        </p:spPr>
        <p:txBody>
          <a:bodyPr wrap="square" lIns="45720" rIns="45720" tIns="36576" bIns="27432" anchor="t">
            <a:spAutoFit/>
          </a:bodyPr>
          <a:lstStyle/>
          <a:p>
            <a:pPr algn="r"/>
            <a:r>
              <a:rPr sz="900" b="0">
                <a:solidFill>
                  <a:srgbClr val="696969"/>
                </a:solidFill>
                <a:latin typeface="Arial"/>
              </a:rPr>
              <a:t>8</a:t>
            </a:r>
          </a:p>
        </p:txBody>
      </p:sp>
      <p:graphicFrame>
        <p:nvGraphicFramePr>
          <p:cNvPr id="5" name="Table 4"/>
          <p:cNvGraphicFramePr>
            <a:graphicFrameLocks noGrp="1"/>
          </p:cNvGraphicFramePr>
          <p:nvPr/>
        </p:nvGraphicFramePr>
        <p:xfrm>
          <a:off x="822960" y="1325880"/>
          <a:ext cx="6400800" cy="2468880"/>
        </p:xfrm>
        <a:graphic>
          <a:graphicData uri="http://schemas.openxmlformats.org/drawingml/2006/table">
            <a:tbl>
              <a:tblPr firstRow="1" bandRow="1">
                <a:tableStyleId>{5C22544A-7EE6-4342-B048-85BDC9FD1C3A}</a:tableStyleId>
              </a:tblPr>
              <a:tblGrid>
                <a:gridCol w="3840480"/>
                <a:gridCol w="2560320"/>
              </a:tblGrid>
              <a:tr h="493776">
                <a:tc>
                  <a:txBody>
                    <a:bodyPr/>
                    <a:lstStyle/>
                    <a:p>
                      <a:pPr>
                        <a:defRPr sz="1400" b="1">
                          <a:solidFill>
                            <a:srgbClr val="FFFFFF"/>
                          </a:solidFill>
                          <a:latin typeface="Arial"/>
                        </a:defRPr>
                      </a:pPr>
                      <a:r>
                        <a:t>Customer segment</a:t>
                      </a:r>
                    </a:p>
                  </a:txBody>
                  <a:tcPr marL="73152" marR="45720" marT="36576" marB="36576">
                    <a:solidFill>
                      <a:srgbClr val="2C3E50"/>
                    </a:solidFill>
                  </a:tcPr>
                </a:tc>
                <a:tc>
                  <a:txBody>
                    <a:bodyPr/>
                    <a:lstStyle/>
                    <a:p>
                      <a:pPr>
                        <a:defRPr sz="1400" b="1">
                          <a:solidFill>
                            <a:srgbClr val="FFFFFF"/>
                          </a:solidFill>
                          <a:latin typeface="Arial"/>
                        </a:defRPr>
                      </a:pPr>
                      <a:r>
                        <a:t>Share of customer revenue</a:t>
                      </a:r>
                    </a:p>
                  </a:txBody>
                  <a:tcPr marL="73152" marR="45720" marT="36576" marB="36576">
                    <a:solidFill>
                      <a:srgbClr val="2C3E50"/>
                    </a:solidFill>
                  </a:tcPr>
                </a:tc>
              </a:tr>
              <a:tr h="493776">
                <a:tc>
                  <a:txBody>
                    <a:bodyPr/>
                    <a:lstStyle/>
                    <a:p>
                      <a:pPr>
                        <a:defRPr sz="1400" b="0">
                          <a:solidFill>
                            <a:srgbClr val="232323"/>
                          </a:solidFill>
                          <a:latin typeface="Arial"/>
                        </a:defRPr>
                      </a:pPr>
                      <a:r>
                        <a:t>Loyal customers</a:t>
                      </a:r>
                    </a:p>
                  </a:txBody>
                  <a:tcPr marL="73152" marR="45720" marT="36576" marB="36576">
                    <a:solidFill>
                      <a:srgbClr val="FFFFFF"/>
                    </a:solidFill>
                  </a:tcPr>
                </a:tc>
                <a:tc>
                  <a:txBody>
                    <a:bodyPr/>
                    <a:lstStyle/>
                    <a:p>
                      <a:pPr>
                        <a:defRPr sz="1400" b="0">
                          <a:solidFill>
                            <a:srgbClr val="232323"/>
                          </a:solidFill>
                          <a:latin typeface="Arial"/>
                        </a:defRPr>
                      </a:pPr>
                      <a:r>
                        <a:t>75.7%</a:t>
                      </a:r>
                    </a:p>
                  </a:txBody>
                  <a:tcPr marL="73152" marR="45720" marT="36576" marB="36576">
                    <a:solidFill>
                      <a:srgbClr val="FFFFFF"/>
                    </a:solidFill>
                  </a:tcPr>
                </a:tc>
              </a:tr>
              <a:tr h="493776">
                <a:tc>
                  <a:txBody>
                    <a:bodyPr/>
                    <a:lstStyle/>
                    <a:p>
                      <a:pPr>
                        <a:defRPr sz="1400" b="0">
                          <a:solidFill>
                            <a:srgbClr val="232323"/>
                          </a:solidFill>
                          <a:latin typeface="Arial"/>
                        </a:defRPr>
                      </a:pPr>
                      <a:r>
                        <a:t>At-risk customers</a:t>
                      </a:r>
                    </a:p>
                  </a:txBody>
                  <a:tcPr marL="73152" marR="45720" marT="36576" marB="36576">
                    <a:solidFill>
                      <a:srgbClr val="F8F9FA"/>
                    </a:solidFill>
                  </a:tcPr>
                </a:tc>
                <a:tc>
                  <a:txBody>
                    <a:bodyPr/>
                    <a:lstStyle/>
                    <a:p>
                      <a:pPr>
                        <a:defRPr sz="1400" b="0">
                          <a:solidFill>
                            <a:srgbClr val="232323"/>
                          </a:solidFill>
                          <a:latin typeface="Arial"/>
                        </a:defRPr>
                      </a:pPr>
                      <a:r>
                        <a:t>11.3%</a:t>
                      </a:r>
                    </a:p>
                  </a:txBody>
                  <a:tcPr marL="73152" marR="45720" marT="36576" marB="36576">
                    <a:solidFill>
                      <a:srgbClr val="F8F9FA"/>
                    </a:solidFill>
                  </a:tcPr>
                </a:tc>
              </a:tr>
              <a:tr h="493776">
                <a:tc>
                  <a:txBody>
                    <a:bodyPr/>
                    <a:lstStyle/>
                    <a:p>
                      <a:pPr>
                        <a:defRPr sz="1400" b="0">
                          <a:solidFill>
                            <a:srgbClr val="232323"/>
                          </a:solidFill>
                          <a:latin typeface="Arial"/>
                        </a:defRPr>
                      </a:pPr>
                      <a:r>
                        <a:t>Lost customers</a:t>
                      </a:r>
                    </a:p>
                  </a:txBody>
                  <a:tcPr marL="73152" marR="45720" marT="36576" marB="36576">
                    <a:solidFill>
                      <a:srgbClr val="FFFFFF"/>
                    </a:solidFill>
                  </a:tcPr>
                </a:tc>
                <a:tc>
                  <a:txBody>
                    <a:bodyPr/>
                    <a:lstStyle/>
                    <a:p>
                      <a:pPr>
                        <a:defRPr sz="1400" b="0">
                          <a:solidFill>
                            <a:srgbClr val="232323"/>
                          </a:solidFill>
                          <a:latin typeface="Arial"/>
                        </a:defRPr>
                      </a:pPr>
                      <a:r>
                        <a:t>8.7%</a:t>
                      </a:r>
                    </a:p>
                  </a:txBody>
                  <a:tcPr marL="73152" marR="45720" marT="36576" marB="36576">
                    <a:solidFill>
                      <a:srgbClr val="FFFFFF"/>
                    </a:solidFill>
                  </a:tcPr>
                </a:tc>
              </a:tr>
              <a:tr h="493776">
                <a:tc>
                  <a:txBody>
                    <a:bodyPr/>
                    <a:lstStyle/>
                    <a:p>
                      <a:pPr>
                        <a:defRPr sz="1400" b="0">
                          <a:solidFill>
                            <a:srgbClr val="232323"/>
                          </a:solidFill>
                          <a:latin typeface="Arial"/>
                        </a:defRPr>
                      </a:pPr>
                      <a:r>
                        <a:t>New / recent customers</a:t>
                      </a:r>
                    </a:p>
                  </a:txBody>
                  <a:tcPr marL="73152" marR="45720" marT="36576" marB="36576">
                    <a:solidFill>
                      <a:srgbClr val="F8F9FA"/>
                    </a:solidFill>
                  </a:tcPr>
                </a:tc>
                <a:tc>
                  <a:txBody>
                    <a:bodyPr/>
                    <a:lstStyle/>
                    <a:p>
                      <a:pPr>
                        <a:defRPr sz="1400" b="0">
                          <a:solidFill>
                            <a:srgbClr val="232323"/>
                          </a:solidFill>
                          <a:latin typeface="Arial"/>
                        </a:defRPr>
                      </a:pPr>
                      <a:r>
                        <a:t>4.3%</a:t>
                      </a:r>
                    </a:p>
                  </a:txBody>
                  <a:tcPr marL="73152" marR="45720" marT="36576" marB="36576">
                    <a:solidFill>
                      <a:srgbClr val="F8F9FA"/>
                    </a:solidFill>
                  </a:tcPr>
                </a:tc>
              </a:tr>
            </a:tbl>
          </a:graphicData>
        </a:graphic>
      </p:graphicFrame>
      <p:sp>
        <p:nvSpPr>
          <p:cNvPr id="6" name="TextBox 5"/>
          <p:cNvSpPr txBox="1"/>
          <p:nvPr/>
        </p:nvSpPr>
        <p:spPr>
          <a:xfrm>
            <a:off x="7635240" y="1508760"/>
            <a:ext cx="3474720" cy="365760"/>
          </a:xfrm>
          <a:prstGeom prst="rect">
            <a:avLst/>
          </a:prstGeom>
          <a:noFill/>
        </p:spPr>
        <p:txBody>
          <a:bodyPr wrap="square" lIns="45720" rIns="45720" tIns="36576" bIns="27432" anchor="t">
            <a:spAutoFit/>
          </a:bodyPr>
          <a:lstStyle/>
          <a:p>
            <a:pPr algn="l"/>
            <a:r>
              <a:rPr sz="1800" b="1">
                <a:solidFill>
                  <a:srgbClr val="315F91"/>
                </a:solidFill>
                <a:latin typeface="Arial"/>
              </a:rPr>
              <a:t>Correlation findings</a:t>
            </a:r>
          </a:p>
        </p:txBody>
      </p:sp>
      <p:sp>
        <p:nvSpPr>
          <p:cNvPr id="7" name="TextBox 6"/>
          <p:cNvSpPr txBox="1"/>
          <p:nvPr/>
        </p:nvSpPr>
        <p:spPr>
          <a:xfrm>
            <a:off x="7635240" y="1965960"/>
            <a:ext cx="3566160" cy="2194560"/>
          </a:xfrm>
          <a:prstGeom prst="rect">
            <a:avLst/>
          </a:prstGeom>
          <a:noFill/>
        </p:spPr>
        <p:txBody>
          <a:bodyPr wrap="square" lIns="73152" rIns="45720" tIns="36576">
            <a:spAutoFit/>
          </a:bodyPr>
          <a:lstStyle/>
          <a:p>
            <a:pPr>
              <a:spcAft>
                <a:spcPts val="1000"/>
              </a:spcAft>
              <a:defRPr sz="1400">
                <a:solidFill>
                  <a:srgbClr val="232323"/>
                </a:solidFill>
                <a:latin typeface="Arial"/>
              </a:defRPr>
            </a:pPr>
            <a:r>
              <a:t>Purchase frequency and total spend: ρ ≈ 0.81.</a:t>
            </a:r>
          </a:p>
          <a:p>
            <a:pPr>
              <a:spcAft>
                <a:spcPts val="1000"/>
              </a:spcAft>
              <a:defRPr sz="1400">
                <a:solidFill>
                  <a:srgbClr val="232323"/>
                </a:solidFill>
                <a:latin typeface="Arial"/>
              </a:defRPr>
            </a:pPr>
            <a:r>
              <a:t>Price and quantity: ρ ≈ −0.41.</a:t>
            </a:r>
          </a:p>
          <a:p>
            <a:pPr>
              <a:spcAft>
                <a:spcPts val="1000"/>
              </a:spcAft>
              <a:defRPr sz="1400">
                <a:solidFill>
                  <a:srgbClr val="232323"/>
                </a:solidFill>
                <a:latin typeface="Arial"/>
              </a:defRPr>
            </a:pPr>
            <a:r>
              <a:t>More frequent customers tend to spend more.</a:t>
            </a:r>
          </a:p>
        </p:txBody>
      </p:sp>
      <p:sp>
        <p:nvSpPr>
          <p:cNvPr id="8" name="TextBox 7"/>
          <p:cNvSpPr txBox="1"/>
          <p:nvPr/>
        </p:nvSpPr>
        <p:spPr>
          <a:xfrm>
            <a:off x="868680" y="4389120"/>
            <a:ext cx="10424160" cy="914400"/>
          </a:xfrm>
          <a:prstGeom prst="rect">
            <a:avLst/>
          </a:prstGeom>
          <a:noFill/>
        </p:spPr>
        <p:txBody>
          <a:bodyPr wrap="square" lIns="45720" rIns="45720" tIns="36576" bIns="27432" anchor="t">
            <a:spAutoFit/>
          </a:bodyPr>
          <a:lstStyle/>
          <a:p>
            <a:pPr algn="l"/>
            <a:r>
              <a:rPr sz="1600" b="0">
                <a:solidFill>
                  <a:srgbClr val="2C3E50"/>
                </a:solidFill>
                <a:latin typeface="Arial"/>
              </a:rPr>
              <a:t>Recommendation: reward loyal customers and design re-engagement offers for at-risk customers. These segments should be reviewed regularly as new sales data becomes available.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502920"/>
          </a:xfrm>
          <a:prstGeom prst="rect">
            <a:avLst/>
          </a:prstGeom>
          <a:noFill/>
        </p:spPr>
        <p:txBody>
          <a:bodyPr wrap="square" lIns="45720" rIns="45720" tIns="36576" bIns="27432" anchor="t">
            <a:spAutoFit/>
          </a:bodyPr>
          <a:lstStyle/>
          <a:p>
            <a:pPr algn="l"/>
            <a:r>
              <a:rPr sz="2600" b="1">
                <a:solidFill>
                  <a:srgbClr val="2C3E50"/>
                </a:solidFill>
                <a:latin typeface="Arial"/>
              </a:rPr>
              <a:t>8. Cancellation Analysis</a:t>
            </a:r>
          </a:p>
        </p:txBody>
      </p:sp>
      <p:sp>
        <p:nvSpPr>
          <p:cNvPr id="3" name="Rectangle 2"/>
          <p:cNvSpPr/>
          <p:nvPr/>
        </p:nvSpPr>
        <p:spPr>
          <a:xfrm>
            <a:off x="594360" y="932688"/>
            <a:ext cx="10972800" cy="22860"/>
          </a:xfrm>
          <a:prstGeom prst="rect">
            <a:avLst/>
          </a:prstGeom>
          <a:solidFill>
            <a:srgbClr val="EB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6446520"/>
            <a:ext cx="457200" cy="182880"/>
          </a:xfrm>
          <a:prstGeom prst="rect">
            <a:avLst/>
          </a:prstGeom>
          <a:noFill/>
        </p:spPr>
        <p:txBody>
          <a:bodyPr wrap="square" lIns="45720" rIns="45720" tIns="36576" bIns="27432" anchor="t">
            <a:spAutoFit/>
          </a:bodyPr>
          <a:lstStyle/>
          <a:p>
            <a:pPr algn="r"/>
            <a:r>
              <a:rPr sz="900" b="0">
                <a:solidFill>
                  <a:srgbClr val="696969"/>
                </a:solidFill>
                <a:latin typeface="Arial"/>
              </a:rPr>
              <a:t>9</a:t>
            </a:r>
          </a:p>
        </p:txBody>
      </p:sp>
      <p:sp>
        <p:nvSpPr>
          <p:cNvPr id="5" name="TextBox 4"/>
          <p:cNvSpPr txBox="1"/>
          <p:nvPr/>
        </p:nvSpPr>
        <p:spPr>
          <a:xfrm>
            <a:off x="822960" y="1325880"/>
            <a:ext cx="10332720" cy="502920"/>
          </a:xfrm>
          <a:prstGeom prst="rect">
            <a:avLst/>
          </a:prstGeom>
          <a:noFill/>
        </p:spPr>
        <p:txBody>
          <a:bodyPr wrap="square" lIns="45720" rIns="45720" tIns="36576" bIns="27432" anchor="t">
            <a:spAutoFit/>
          </a:bodyPr>
          <a:lstStyle/>
          <a:p>
            <a:pPr algn="l"/>
            <a:r>
              <a:rPr sz="2000" b="1">
                <a:solidFill>
                  <a:srgbClr val="315F91"/>
                </a:solidFill>
                <a:latin typeface="Arial"/>
              </a:rPr>
              <a:t>Main findings</a:t>
            </a:r>
          </a:p>
        </p:txBody>
      </p:sp>
      <p:sp>
        <p:nvSpPr>
          <p:cNvPr id="6" name="TextBox 5"/>
          <p:cNvSpPr txBox="1"/>
          <p:nvPr/>
        </p:nvSpPr>
        <p:spPr>
          <a:xfrm>
            <a:off x="914400" y="1920240"/>
            <a:ext cx="10058400" cy="2468880"/>
          </a:xfrm>
          <a:prstGeom prst="rect">
            <a:avLst/>
          </a:prstGeom>
          <a:noFill/>
        </p:spPr>
        <p:txBody>
          <a:bodyPr wrap="square" lIns="73152" rIns="45720" tIns="36576">
            <a:spAutoFit/>
          </a:bodyPr>
          <a:lstStyle/>
          <a:p>
            <a:pPr>
              <a:spcAft>
                <a:spcPts val="1200"/>
              </a:spcAft>
              <a:defRPr sz="1700">
                <a:solidFill>
                  <a:srgbClr val="232323"/>
                </a:solidFill>
                <a:latin typeface="Arial"/>
              </a:defRPr>
            </a:pPr>
            <a:r>
              <a:t>Approximately 14.8% of invoices were cancelled.</a:t>
            </a:r>
          </a:p>
          <a:p>
            <a:pPr>
              <a:spcAft>
                <a:spcPts val="1200"/>
              </a:spcAft>
              <a:defRPr sz="1700">
                <a:solidFill>
                  <a:srgbClr val="232323"/>
                </a:solidFill>
                <a:latin typeface="Arial"/>
              </a:defRPr>
            </a:pPr>
            <a:r>
              <a:t>The estimated value associated with cancellations was about £894,000.</a:t>
            </a:r>
          </a:p>
          <a:p>
            <a:pPr>
              <a:spcAft>
                <a:spcPts val="1200"/>
              </a:spcAft>
              <a:defRPr sz="1700">
                <a:solidFill>
                  <a:srgbClr val="232323"/>
                </a:solidFill>
                <a:latin typeface="Arial"/>
              </a:defRPr>
            </a:pPr>
            <a:r>
              <a:t>Cancellation rates differ across countries.</a:t>
            </a:r>
          </a:p>
          <a:p>
            <a:pPr>
              <a:spcAft>
                <a:spcPts val="1200"/>
              </a:spcAft>
              <a:defRPr sz="1700">
                <a:solidFill>
                  <a:srgbClr val="232323"/>
                </a:solidFill>
                <a:latin typeface="Arial"/>
              </a:defRPr>
            </a:pPr>
            <a:r>
              <a:t>Cancellations may be linked to ordering errors, stock issues or customer changes, but the dataset alone does not confirm the cause.</a:t>
            </a:r>
          </a:p>
        </p:txBody>
      </p:sp>
      <p:sp>
        <p:nvSpPr>
          <p:cNvPr id="7" name="TextBox 6"/>
          <p:cNvSpPr txBox="1"/>
          <p:nvPr/>
        </p:nvSpPr>
        <p:spPr>
          <a:xfrm>
            <a:off x="822960" y="4800600"/>
            <a:ext cx="10332720" cy="365760"/>
          </a:xfrm>
          <a:prstGeom prst="rect">
            <a:avLst/>
          </a:prstGeom>
          <a:noFill/>
        </p:spPr>
        <p:txBody>
          <a:bodyPr wrap="square" lIns="45720" rIns="45720" tIns="36576" bIns="27432" anchor="t">
            <a:spAutoFit/>
          </a:bodyPr>
          <a:lstStyle/>
          <a:p>
            <a:pPr algn="l"/>
            <a:r>
              <a:rPr sz="1900" b="1">
                <a:solidFill>
                  <a:srgbClr val="315F91"/>
                </a:solidFill>
                <a:latin typeface="Arial"/>
              </a:rPr>
              <a:t>Suggested follow-up</a:t>
            </a:r>
          </a:p>
        </p:txBody>
      </p:sp>
      <p:sp>
        <p:nvSpPr>
          <p:cNvPr id="8" name="TextBox 7"/>
          <p:cNvSpPr txBox="1"/>
          <p:nvPr/>
        </p:nvSpPr>
        <p:spPr>
          <a:xfrm>
            <a:off x="868680" y="5257800"/>
            <a:ext cx="10241280" cy="640080"/>
          </a:xfrm>
          <a:prstGeom prst="rect">
            <a:avLst/>
          </a:prstGeom>
          <a:noFill/>
        </p:spPr>
        <p:txBody>
          <a:bodyPr wrap="square" lIns="45720" rIns="45720" tIns="36576" bIns="27432" anchor="t">
            <a:spAutoFit/>
          </a:bodyPr>
          <a:lstStyle/>
          <a:p>
            <a:pPr algn="l"/>
            <a:r>
              <a:rPr sz="1600" b="0">
                <a:solidFill>
                  <a:srgbClr val="2C3E50"/>
                </a:solidFill>
                <a:latin typeface="Arial"/>
              </a:rPr>
              <a:t>Review cancellation patterns by product, country and order size, then investigate operational reasons before proposing policy changes.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502920"/>
          </a:xfrm>
          <a:prstGeom prst="rect">
            <a:avLst/>
          </a:prstGeom>
          <a:noFill/>
        </p:spPr>
        <p:txBody>
          <a:bodyPr wrap="square" lIns="45720" rIns="45720" tIns="36576" bIns="27432" anchor="t">
            <a:spAutoFit/>
          </a:bodyPr>
          <a:lstStyle/>
          <a:p>
            <a:pPr algn="l"/>
            <a:r>
              <a:rPr sz="2600" b="1">
                <a:solidFill>
                  <a:srgbClr val="2C3E50"/>
                </a:solidFill>
                <a:latin typeface="Arial"/>
              </a:rPr>
              <a:t>9. Recommendations, Limitations and Conclusion</a:t>
            </a:r>
          </a:p>
        </p:txBody>
      </p:sp>
      <p:sp>
        <p:nvSpPr>
          <p:cNvPr id="3" name="Rectangle 2"/>
          <p:cNvSpPr/>
          <p:nvPr/>
        </p:nvSpPr>
        <p:spPr>
          <a:xfrm>
            <a:off x="594360" y="932688"/>
            <a:ext cx="10972800" cy="22860"/>
          </a:xfrm>
          <a:prstGeom prst="rect">
            <a:avLst/>
          </a:prstGeom>
          <a:solidFill>
            <a:srgbClr val="EB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064240" y="6446520"/>
            <a:ext cx="457200" cy="182880"/>
          </a:xfrm>
          <a:prstGeom prst="rect">
            <a:avLst/>
          </a:prstGeom>
          <a:noFill/>
        </p:spPr>
        <p:txBody>
          <a:bodyPr wrap="square" lIns="45720" rIns="45720" tIns="36576" bIns="27432" anchor="t">
            <a:spAutoFit/>
          </a:bodyPr>
          <a:lstStyle/>
          <a:p>
            <a:pPr algn="r"/>
            <a:r>
              <a:rPr sz="900" b="0">
                <a:solidFill>
                  <a:srgbClr val="696969"/>
                </a:solidFill>
                <a:latin typeface="Arial"/>
              </a:rPr>
              <a:t>10</a:t>
            </a:r>
          </a:p>
        </p:txBody>
      </p:sp>
      <p:sp>
        <p:nvSpPr>
          <p:cNvPr id="5" name="TextBox 4"/>
          <p:cNvSpPr txBox="1"/>
          <p:nvPr/>
        </p:nvSpPr>
        <p:spPr>
          <a:xfrm>
            <a:off x="731520" y="1234440"/>
            <a:ext cx="5303520" cy="365760"/>
          </a:xfrm>
          <a:prstGeom prst="rect">
            <a:avLst/>
          </a:prstGeom>
          <a:noFill/>
        </p:spPr>
        <p:txBody>
          <a:bodyPr wrap="square" lIns="45720" rIns="45720" tIns="36576" bIns="27432" anchor="t">
            <a:spAutoFit/>
          </a:bodyPr>
          <a:lstStyle/>
          <a:p>
            <a:pPr algn="l"/>
            <a:r>
              <a:rPr sz="1900" b="1">
                <a:solidFill>
                  <a:srgbClr val="315F91"/>
                </a:solidFill>
                <a:latin typeface="Arial"/>
              </a:rPr>
              <a:t>Recommendations</a:t>
            </a:r>
          </a:p>
        </p:txBody>
      </p:sp>
      <p:sp>
        <p:nvSpPr>
          <p:cNvPr id="6" name="TextBox 5"/>
          <p:cNvSpPr txBox="1"/>
          <p:nvPr/>
        </p:nvSpPr>
        <p:spPr>
          <a:xfrm>
            <a:off x="777240" y="1691640"/>
            <a:ext cx="5212080" cy="2560320"/>
          </a:xfrm>
          <a:prstGeom prst="rect">
            <a:avLst/>
          </a:prstGeom>
          <a:noFill/>
        </p:spPr>
        <p:txBody>
          <a:bodyPr wrap="square" lIns="73152" rIns="45720" tIns="36576">
            <a:spAutoFit/>
          </a:bodyPr>
          <a:lstStyle/>
          <a:p>
            <a:pPr>
              <a:spcAft>
                <a:spcPts val="900"/>
              </a:spcAft>
              <a:defRPr sz="1400">
                <a:solidFill>
                  <a:srgbClr val="232323"/>
                </a:solidFill>
                <a:latin typeface="Arial"/>
              </a:defRPr>
            </a:pPr>
            <a:r>
              <a:t>Prepare for the September–November sales peak.</a:t>
            </a:r>
          </a:p>
          <a:p>
            <a:pPr>
              <a:spcAft>
                <a:spcPts val="900"/>
              </a:spcAft>
              <a:defRPr sz="1400">
                <a:solidFill>
                  <a:srgbClr val="232323"/>
                </a:solidFill>
                <a:latin typeface="Arial"/>
              </a:defRPr>
            </a:pPr>
            <a:r>
              <a:t>Support loyal customers and re-engage at-risk customers.</a:t>
            </a:r>
          </a:p>
          <a:p>
            <a:pPr>
              <a:spcAft>
                <a:spcPts val="900"/>
              </a:spcAft>
              <a:defRPr sz="1400">
                <a:solidFill>
                  <a:srgbClr val="232323"/>
                </a:solidFill>
                <a:latin typeface="Arial"/>
              </a:defRPr>
            </a:pPr>
            <a:r>
              <a:t>Test international marketing where order values are higher.</a:t>
            </a:r>
          </a:p>
          <a:p>
            <a:pPr>
              <a:spcAft>
                <a:spcPts val="900"/>
              </a:spcAft>
              <a:defRPr sz="1400">
                <a:solidFill>
                  <a:srgbClr val="232323"/>
                </a:solidFill>
                <a:latin typeface="Arial"/>
              </a:defRPr>
            </a:pPr>
            <a:r>
              <a:t>Investigate cancellations and declining product demand.</a:t>
            </a:r>
          </a:p>
        </p:txBody>
      </p:sp>
      <p:sp>
        <p:nvSpPr>
          <p:cNvPr id="7" name="TextBox 6"/>
          <p:cNvSpPr txBox="1"/>
          <p:nvPr/>
        </p:nvSpPr>
        <p:spPr>
          <a:xfrm>
            <a:off x="6263640" y="1234440"/>
            <a:ext cx="5029200" cy="365760"/>
          </a:xfrm>
          <a:prstGeom prst="rect">
            <a:avLst/>
          </a:prstGeom>
          <a:noFill/>
        </p:spPr>
        <p:txBody>
          <a:bodyPr wrap="square" lIns="45720" rIns="45720" tIns="36576" bIns="27432" anchor="t">
            <a:spAutoFit/>
          </a:bodyPr>
          <a:lstStyle/>
          <a:p>
            <a:pPr algn="l"/>
            <a:r>
              <a:rPr sz="1900" b="1">
                <a:solidFill>
                  <a:srgbClr val="315F91"/>
                </a:solidFill>
                <a:latin typeface="Arial"/>
              </a:rPr>
              <a:t>Limitations</a:t>
            </a:r>
          </a:p>
        </p:txBody>
      </p:sp>
      <p:sp>
        <p:nvSpPr>
          <p:cNvPr id="8" name="TextBox 7"/>
          <p:cNvSpPr txBox="1"/>
          <p:nvPr/>
        </p:nvSpPr>
        <p:spPr>
          <a:xfrm>
            <a:off x="6309360" y="1691640"/>
            <a:ext cx="4983480" cy="2560320"/>
          </a:xfrm>
          <a:prstGeom prst="rect">
            <a:avLst/>
          </a:prstGeom>
          <a:noFill/>
        </p:spPr>
        <p:txBody>
          <a:bodyPr wrap="square" lIns="73152" rIns="45720" tIns="36576">
            <a:spAutoFit/>
          </a:bodyPr>
          <a:lstStyle/>
          <a:p>
            <a:pPr>
              <a:spcAft>
                <a:spcPts val="900"/>
              </a:spcAft>
              <a:defRPr sz="1400">
                <a:solidFill>
                  <a:srgbClr val="232323"/>
                </a:solidFill>
                <a:latin typeface="Arial"/>
              </a:defRPr>
            </a:pPr>
            <a:r>
              <a:t>The dataset covers roughly one year.</a:t>
            </a:r>
          </a:p>
          <a:p>
            <a:pPr>
              <a:spcAft>
                <a:spcPts val="900"/>
              </a:spcAft>
              <a:defRPr sz="1400">
                <a:solidFill>
                  <a:srgbClr val="232323"/>
                </a:solidFill>
                <a:latin typeface="Arial"/>
              </a:defRPr>
            </a:pPr>
            <a:r>
              <a:t>December 2011 is incomplete.</a:t>
            </a:r>
          </a:p>
          <a:p>
            <a:pPr>
              <a:spcAft>
                <a:spcPts val="900"/>
              </a:spcAft>
              <a:defRPr sz="1400">
                <a:solidFill>
                  <a:srgbClr val="232323"/>
                </a:solidFill>
                <a:latin typeface="Arial"/>
              </a:defRPr>
            </a:pPr>
            <a:r>
              <a:t>CustomerID is missing in about one quarter of rows.</a:t>
            </a:r>
          </a:p>
          <a:p>
            <a:pPr>
              <a:spcAft>
                <a:spcPts val="900"/>
              </a:spcAft>
              <a:defRPr sz="1400">
                <a:solidFill>
                  <a:srgbClr val="232323"/>
                </a:solidFill>
                <a:latin typeface="Arial"/>
              </a:defRPr>
            </a:pPr>
            <a:r>
              <a:t>Bulk purchases can affect averages and outlier analysis.</a:t>
            </a:r>
          </a:p>
          <a:p>
            <a:pPr>
              <a:spcAft>
                <a:spcPts val="900"/>
              </a:spcAft>
              <a:defRPr sz="1400">
                <a:solidFill>
                  <a:srgbClr val="232323"/>
                </a:solidFill>
                <a:latin typeface="Arial"/>
              </a:defRPr>
            </a:pPr>
            <a:r>
              <a:t>Correlation does not prove causation.</a:t>
            </a:r>
          </a:p>
        </p:txBody>
      </p:sp>
      <p:sp>
        <p:nvSpPr>
          <p:cNvPr id="9" name="TextBox 8"/>
          <p:cNvSpPr txBox="1"/>
          <p:nvPr/>
        </p:nvSpPr>
        <p:spPr>
          <a:xfrm>
            <a:off x="777240" y="4800600"/>
            <a:ext cx="10515600" cy="365760"/>
          </a:xfrm>
          <a:prstGeom prst="rect">
            <a:avLst/>
          </a:prstGeom>
          <a:noFill/>
        </p:spPr>
        <p:txBody>
          <a:bodyPr wrap="square" lIns="45720" rIns="45720" tIns="36576" bIns="27432" anchor="t">
            <a:spAutoFit/>
          </a:bodyPr>
          <a:lstStyle/>
          <a:p>
            <a:pPr algn="l"/>
            <a:r>
              <a:rPr sz="1900" b="1">
                <a:solidFill>
                  <a:srgbClr val="315F91"/>
                </a:solidFill>
                <a:latin typeface="Arial"/>
              </a:rPr>
              <a:t>Conclusion</a:t>
            </a:r>
          </a:p>
        </p:txBody>
      </p:sp>
      <p:sp>
        <p:nvSpPr>
          <p:cNvPr id="10" name="TextBox 9"/>
          <p:cNvSpPr txBox="1"/>
          <p:nvPr/>
        </p:nvSpPr>
        <p:spPr>
          <a:xfrm>
            <a:off x="822960" y="5257800"/>
            <a:ext cx="10424160" cy="777240"/>
          </a:xfrm>
          <a:prstGeom prst="rect">
            <a:avLst/>
          </a:prstGeom>
          <a:noFill/>
        </p:spPr>
        <p:txBody>
          <a:bodyPr wrap="square" lIns="45720" rIns="45720" tIns="36576" bIns="27432" anchor="t">
            <a:spAutoFit/>
          </a:bodyPr>
          <a:lstStyle/>
          <a:p>
            <a:pPr algn="l"/>
            <a:r>
              <a:rPr sz="1600" b="0">
                <a:solidFill>
                  <a:srgbClr val="2C3E50"/>
                </a:solidFill>
                <a:latin typeface="Arial"/>
              </a:rPr>
              <a:t>The analysis identifies clear product, seasonal and customer patterns. These findings can support better inventory planning, customer retention and targeted sales strategies. Further analysis with more recent data could test whether these patterns continue.</a:t>
            </a:r>
          </a:p>
        </p:txBody>
      </p:sp>
      <p:sp>
        <p:nvSpPr>
          <p:cNvPr id="11" name="TextBox 10"/>
          <p:cNvSpPr txBox="1"/>
          <p:nvPr/>
        </p:nvSpPr>
        <p:spPr>
          <a:xfrm>
            <a:off x="822960" y="6263640"/>
            <a:ext cx="10515600" cy="228600"/>
          </a:xfrm>
          <a:prstGeom prst="rect">
            <a:avLst/>
          </a:prstGeom>
          <a:noFill/>
        </p:spPr>
        <p:txBody>
          <a:bodyPr wrap="square" lIns="45720" rIns="45720" tIns="36576" bIns="27432" anchor="t">
            <a:spAutoFit/>
          </a:bodyPr>
          <a:lstStyle/>
          <a:p>
            <a:pPr algn="l"/>
            <a:r>
              <a:rPr sz="1000" b="0">
                <a:solidFill>
                  <a:srgbClr val="696969"/>
                </a:solidFill>
                <a:latin typeface="Arial"/>
              </a:rPr>
              <a:t>Source: UCI Online Retail dataset | Tools: Python, Pandas, NumPy, Matplotlib, Seaborn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